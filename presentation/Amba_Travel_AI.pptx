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a53a9f18-68cf-11c8-128c-2d5dc4fce491}">
          <p14:sldIdLst>
            <p14:sldId id="256"/>
          </p14:sldIdLst>
        </p14:section>
        <p14:section name="Задача" id="{ad494c9a-0b08-322d-a968-917bdaf5b72b}">
          <p14:sldIdLst>
            <p14:sldId id="257"/>
            <p14:sldId id="258"/>
          </p14:sldIdLst>
        </p14:section>
        <p14:section name="Решение" id="{bbbad43e-4ae3-41f7-296c-59b297608eb3}">
          <p14:sldIdLst>
            <p14:sldId id="259"/>
            <p14:sldId id="260"/>
            <p14:sldId id="261"/>
            <p14:sldId id="262"/>
          </p14:sldIdLst>
        </p14:section>
        <p14:section name="Замеры" id="{00b71219-c60c-8af1-4a48-0d856c412d84}">
          <p14:sldIdLst>
            <p14:sldId id="263"/>
            <p14:sldId id="264"/>
          </p14:sldIdLst>
        </p14:section>
        <p14:section name="Команда" id="{6d2d6cd0-06f0-eaa3-f34d-06c53afddf45}">
          <p14:sldIdLst>
            <p14:sldId id="265"/>
          </p14:sldIdLst>
        </p14:section>
        <p14:section name="Итоги" id="{9b0c520e-3fc8-6d14-cc7c-dc1b8a6808ce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2D3A"/>
                </a:solidFill>
                <a:latin typeface="+mn-lt"/>
              </a:rPr>
              <a:t>Токены на запрос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Токены на запрос</c:v>
                </c:pt>
              </c:strCache>
            </c:strRef>
          </c:tx>
          <c:spPr>
            <a:solidFill>
              <a:srgbClr val="2E6B62"/>
            </a:solidFill>
            <a:effectLst/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2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87860</c:v>
                </c:pt>
                <c:pt idx="1">
                  <c:v>52098</c:v>
                </c:pt>
                <c:pt idx="2">
                  <c:v>32462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b="0" i="0" strike="noStrike" sz="1000" u="none">
                  <a:solidFill>
                    <a:srgbClr val="0F2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2D3A"/>
                </a:solidFill>
                <a:latin typeface="+mn-lt"/>
              </a:rPr>
              <a:t>Качество (0–1)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Качество (0–1)</c:v>
                </c:pt>
              </c:strCache>
            </c:strRef>
          </c:tx>
          <c:spPr>
            <a:solidFill>
              <a:srgbClr val="F0641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2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0.643</c:v>
                </c:pt>
                <c:pt idx="1">
                  <c:v>0.75</c:v>
                </c:pt>
                <c:pt idx="2">
                  <c:v>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F2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 · к концу слайда 0:20] Здравствуйте! Мы команда «Амба». Амба — это амурский тигрёнок и наш AI-гид по Приморскому краю: вы пишете поездку обычными словами, а агент собирает план и проверяет, что он сходится с реальностью.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· к концу слайда 1:10] Чтобы спланировать даже выходные, нужно открыть десяток сайтов: погода, расписания автобусов, часы работы музеев, заправки, жильё, кафе. Обычный чат-бот быстро выдаёт план, но не проверяет его — и ведёт в закрытый музей или на велосипед под ливень. А в Приморье цена ошибки выше: сопки, грунтовки, редкие рейсы. Наши пользователи — гости края, местные жители, которые ищут, куда поехать на выходные, и travel-сервисы, например банковские, где из плана можно сразу перейти к брони и оплате.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[0:35 · к концу слайда 1:45] Чат-боты понимают свободный текст, но ничего не проверяют. Агрегаторы продают билеты, но поездку не строят. Путеводители надёжны, но статичны. Амба соединяет всё: свободный запрос, полный план, проверку по реальным данным и ссылки, чтобы сразу всё оформить.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· к концу слайда 2:35] Вот как это выглядит. Человек пишет: «на три дня на машине в Хасанский район». Если чего-то не хватает, Амба коротко уточняет, например какую кухню вы любите. Дальше видно, что агент понял из запроса, статус проверки, дни таймлайном и маршрут на карте — по улицам, а не напрямик. Обеды — реальные кафе из OpenStreetMap. У каждого пункта есть ссылки: карта, сайт, расписание и билеты, гостиницы рядом. Демо открыто по ссылке на последнем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· к концу слайда 3:25] Это не один промпт, а агентный цикл. Сначала фильтр: всё, что не про Приморье, отклоняется без вызова модели. Если важного не хватает, агент задаёт один-два вопроса. Дальше модель сама выбирает тулы, мы вызываем их параллельно и возвращаем данные, и так по кругу, пока данных не хватит. Готовый план проходит проверку; если есть противоречия, агент их исправляет. Цикл написан с нуля на FastAPI, модель — DeepSeek через OpenRouter.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[0:35 · к концу слайда 4:00] У агента десять тулов. Реальных источников пять: погода из Open-Meteo, маршруты по дорогам и тропам из OSRM, кафе и геокодер из OpenStreetMap, заправки из Overpass и справки из Википедии. Чего в открытом доступе нет — наличие бензина, свободные номера, расписания — подставляем из своих наборов данных. Если API лежит, тул не падает, а честно переходит на оценку.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· к концу слайда 4:50] Главное правило задания — план должен сходиться. Проверку делает код, а не модель: для пешехода — не больше двадцати километров и до заката, для велосипеда — не в дождь, для автобуса — рейс реально ходит и вы успеваете на последний, для машины — по пути есть заправки. Плюс сроки, ночёвка, режим работы, погода. И Амба говорит только о Приморье: алгебру, Сочи и «забудь правила» вежливо отклоняет, а поездку из Хабаровска во Владивосток спокойно планирует.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[0:55 · к концу слайда 5:45] Замеряли три версии на одном наборе из 10 запросов: 7 поездок разным транспортом и 3 нецелевых. Качество — это верно ли выбраны тулы плюс доля пройденных проверок плана. Бейзлайн — короткий промпт и сырые ответы тулов. Вторая версия — сжатие контекста, фильтр и цикл исправлений. Третья — исправления, найденные эвалом, и модель DeepSeek. Качество выросло с 0.64 до 1.00, токенов стало почти втрое меньше, а запрос стоит меньше цента.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· к концу слайда 6:25] Что дали улучшения. Сжатие контекста срезало токены больше чем вдвое: геометрию маршрутов и почасовую погоду модели видеть не нужно. Доля планов, которые проходят все проверки, выросла с сорока трёх до ста процентов. И самое ценное: эвал нашёл три настоящих бага агента — обрезанный план, дни строкой и зацикливание на невыполнимом запросе. Все исправлены.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· к концу слайда 6:55] Нас семеро: двое бэкенд-разработчиков отвечали за агента, тулы и деплой, два ML-инженера — за промпты, версии агента, эвал и интерфейс, QA — за тесты и guardrails, тимлид — за архитектуру, инженер по отладке — за поиск и разбор багов.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· к концу слайда 7:25] Повторить можно за пять минут: установить зависимости, вписать ключ, запустить, прогнать тесты и замеры. Деплой — одна команда, приложение собирается в Docker. Новый тул — это файл с описанием, схемой и функцией. Код открыт на GitHub, а по QR-коду можно попробовать Амбу прямо сейчас.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[0:10 · к концу слайда 7:35] Спасибо! Готовы ответить на вопросы. Хорошей дороги!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8590"/>
                </a:solidFill>
              </a:rPr>
              <a:t>Амба · Т-Банк × Сириус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15F"/>
                </a:solidFill>
              </a:rPr>
              <a:t>Т-Банк × Сириус · командный проект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Амба — AI-гид по Приморью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Пишете поездку обычными словами — агент собирает план и проверяет, что он сходится с реальностью</a:t>
            </a:r>
            <a:endParaRPr lang="en-US" sz="1600" dirty="0"/>
          </a:p>
        </p:txBody>
      </p:sp>
      <p:pic>
        <p:nvPicPr>
          <p:cNvPr id="5" name="masc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685800"/>
            <a:ext cx="2743200" cy="2971800"/>
          </a:xfrm>
          <a:prstGeom prst="rect">
            <a:avLst/>
          </a:prstGeom>
        </p:spPr>
      </p:pic>
      <p:sp>
        <p:nvSpPr>
          <p:cNvPr id="6" name="speech"/>
          <p:cNvSpPr/>
          <p:nvPr/>
        </p:nvSpPr>
        <p:spPr>
          <a:xfrm>
            <a:off x="6035040" y="3840480"/>
            <a:ext cx="2560320" cy="502920"/>
          </a:xfrm>
          <a:prstGeom prst="roundRect">
            <a:avLst>
              <a:gd name="adj" fmla="val 21818"/>
            </a:avLst>
          </a:prstGeom>
          <a:solidFill>
            <a:schemeClr val="bg2"/>
          </a:solidFill>
          <a:ln w="19050">
            <a:solidFill>
              <a:srgbClr val="F0641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35040" y="3840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Привет! Куда поедем?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Какую проблему решаем</a:t>
            </a:r>
            <a:endParaRPr lang="en-US" sz="2800" dirty="0"/>
          </a:p>
        </p:txBody>
      </p:sp>
      <p:sp>
        <p:nvSpPr>
          <p:cNvPr id="3" name="num-1"/>
          <p:cNvSpPr/>
          <p:nvPr/>
        </p:nvSpPr>
        <p:spPr>
          <a:xfrm>
            <a:off x="457200" y="1143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Данные разбросаны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Погода, расписания, режим музеев, АЗС, жильё, кафе — десяток сайтов на одну поездку</a:t>
            </a:r>
            <a:endParaRPr lang="en-US" sz="1300" dirty="0"/>
          </a:p>
        </p:txBody>
      </p:sp>
      <p:sp>
        <p:nvSpPr>
          <p:cNvPr id="7" name="num-2"/>
          <p:cNvSpPr/>
          <p:nvPr/>
        </p:nvSpPr>
        <p:spPr>
          <a:xfrm>
            <a:off x="457200" y="2286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Чат-боты ошибаются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Ведут в закрытый музей, на велосипед под ливень, предлагают 3 дня вместо двух</a:t>
            </a:r>
            <a:endParaRPr lang="en-US" sz="1300" dirty="0"/>
          </a:p>
        </p:txBody>
      </p:sp>
      <p:sp>
        <p:nvSpPr>
          <p:cNvPr id="11" name="num-3"/>
          <p:cNvSpPr/>
          <p:nvPr/>
        </p:nvSpPr>
        <p:spPr>
          <a:xfrm>
            <a:off x="457200" y="3429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383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Приморье — особый случай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749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Сопки, грунтовки, редкие рейсы и паромы, туманы и тайфуны с моря</a:t>
            </a:r>
            <a:endParaRPr lang="en-US" sz="1300" dirty="0"/>
          </a:p>
        </p:txBody>
      </p:sp>
      <p:sp>
        <p:nvSpPr>
          <p:cNvPr id="15" name="audience"/>
          <p:cNvSpPr/>
          <p:nvPr/>
        </p:nvSpPr>
        <p:spPr>
          <a:xfrm>
            <a:off x="5212080" y="1051560"/>
            <a:ext cx="3474720" cy="3520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40680" y="1188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Для кого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40680" y="164592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Гости края — впервые во Владивостоке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Местные — «куда на выходные»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Travel-сервисы банков и агрегаторы: план → бронь → оплата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Туристические центры и турбазы края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Чем отличаемся от существующих решений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88720"/>
                <a:gridCol w="1463040"/>
                <a:gridCol w="1280160"/>
                <a:gridCol w="11887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Чат-боты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Агрегаторы билетов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Путеводители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Амба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Запрос свободным текстом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План целиком: места, путь, ночёвка, еда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Проверка погоды и режима работы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Ограничения транспорта: АЗС, рейсы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Ссылки, чтобы сразу всё оформить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≈ — частично. Амба сфокусирован на одном регионе, зато знает его ограничения.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 выглядит</a:t>
            </a:r>
            <a:endParaRPr lang="en-US" sz="2800" dirty="0"/>
          </a:p>
        </p:txBody>
      </p:sp>
      <p:pic>
        <p:nvPicPr>
          <p:cNvPr id="3" name="plan.pn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5394960" cy="337185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0" y="102412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Сначала уточнит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31673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1–2 коротких вопроса с вариантами: кухня, бюджет, темп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19202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Реальные кафе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2128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из OpenStreetMap: кухня, часы, сайт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81635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Ссылки у каждого пункта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3108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карта, сайт, расписание и билеты, гостиницы рядом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126480" y="371246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Маршрут по улицам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400507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карта по дням; вид «Бортовой журнал» — в морском стиле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Агентный цикл, а не один промпт</a:t>
            </a:r>
            <a:endParaRPr lang="en-US" sz="2800" dirty="0"/>
          </a:p>
        </p:txBody>
      </p:sp>
      <p:sp>
        <p:nvSpPr>
          <p:cNvPr id="3" name="step-1"/>
          <p:cNvSpPr/>
          <p:nvPr/>
        </p:nvSpPr>
        <p:spPr>
          <a:xfrm>
            <a:off x="457200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-1"/>
          <p:cNvSpPr/>
          <p:nvPr/>
        </p:nvSpPr>
        <p:spPr>
          <a:xfrm>
            <a:off x="905256" y="125272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Фильтр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не про Приморье — отказ за 0 токенов</a:t>
            </a:r>
            <a:endParaRPr lang="en-US" sz="1000" dirty="0"/>
          </a:p>
        </p:txBody>
      </p:sp>
      <p:sp>
        <p:nvSpPr>
          <p:cNvPr id="8" name="step-2"/>
          <p:cNvSpPr/>
          <p:nvPr/>
        </p:nvSpPr>
        <p:spPr>
          <a:xfrm>
            <a:off x="1856232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um-2"/>
          <p:cNvSpPr/>
          <p:nvPr/>
        </p:nvSpPr>
        <p:spPr>
          <a:xfrm>
            <a:off x="2304288" y="125272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04288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929384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Уточнение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929384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1–2 вопроса, если важного не хватает</a:t>
            </a:r>
            <a:endParaRPr lang="en-US" sz="1000" dirty="0"/>
          </a:p>
        </p:txBody>
      </p:sp>
      <p:sp>
        <p:nvSpPr>
          <p:cNvPr id="13" name="step-3"/>
          <p:cNvSpPr/>
          <p:nvPr/>
        </p:nvSpPr>
        <p:spPr>
          <a:xfrm>
            <a:off x="3255264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-3"/>
          <p:cNvSpPr/>
          <p:nvPr/>
        </p:nvSpPr>
        <p:spPr>
          <a:xfrm>
            <a:off x="3703320" y="12527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03320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328416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Выбор тулов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28416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модель решает, какие данные нужны</a:t>
            </a:r>
            <a:endParaRPr lang="en-US" sz="1000" dirty="0"/>
          </a:p>
        </p:txBody>
      </p:sp>
      <p:sp>
        <p:nvSpPr>
          <p:cNvPr id="18" name="step-4"/>
          <p:cNvSpPr/>
          <p:nvPr/>
        </p:nvSpPr>
        <p:spPr>
          <a:xfrm>
            <a:off x="4654296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um-4"/>
          <p:cNvSpPr/>
          <p:nvPr/>
        </p:nvSpPr>
        <p:spPr>
          <a:xfrm>
            <a:off x="5102352" y="12527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02352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Вызов тулов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727448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параллельно: места, погода, еда, жильё</a:t>
            </a:r>
            <a:endParaRPr lang="en-US" sz="1000" dirty="0"/>
          </a:p>
        </p:txBody>
      </p:sp>
      <p:sp>
        <p:nvSpPr>
          <p:cNvPr id="23" name="step-5"/>
          <p:cNvSpPr/>
          <p:nvPr/>
        </p:nvSpPr>
        <p:spPr>
          <a:xfrm>
            <a:off x="6053328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num-5"/>
          <p:cNvSpPr/>
          <p:nvPr/>
        </p:nvSpPr>
        <p:spPr>
          <a:xfrm>
            <a:off x="6501384" y="12527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01384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План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126480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submit_plan по JSON-схеме</a:t>
            </a:r>
            <a:endParaRPr lang="en-US" sz="1000" dirty="0"/>
          </a:p>
        </p:txBody>
      </p:sp>
      <p:sp>
        <p:nvSpPr>
          <p:cNvPr id="28" name="step-6"/>
          <p:cNvSpPr/>
          <p:nvPr/>
        </p:nvSpPr>
        <p:spPr>
          <a:xfrm>
            <a:off x="7452360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num-6"/>
          <p:cNvSpPr/>
          <p:nvPr/>
        </p:nvSpPr>
        <p:spPr>
          <a:xfrm>
            <a:off x="7900416" y="1252728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00416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525512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Проверка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525512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противоречия → агенту на исправление</a:t>
            </a:r>
            <a:endParaRPr lang="en-US" sz="1000" dirty="0"/>
          </a:p>
        </p:txBody>
      </p:sp>
      <p:sp>
        <p:nvSpPr>
          <p:cNvPr id="33" name="loop"/>
          <p:cNvSpPr/>
          <p:nvPr/>
        </p:nvSpPr>
        <p:spPr>
          <a:xfrm>
            <a:off x="3246120" y="3154680"/>
            <a:ext cx="4114800" cy="411480"/>
          </a:xfrm>
          <a:prstGeom prst="roundRect">
            <a:avLst>
              <a:gd name="adj" fmla="val 48889"/>
            </a:avLst>
          </a:prstGeom>
          <a:solidFill>
            <a:srgbClr val="E3F0EC"/>
          </a:solidFill>
          <a:ln w="12700">
            <a:solidFill>
              <a:srgbClr val="2E6B6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246120" y="3154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↻ шаги 3–5 повторяются, пока данных не хватит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3749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FastAPI + OpenRouter tool calling, цикл написан с нуля, без агентных фреймворков. Модель — DeepSeek V4.1 Flash. Шаги агента стримятся в интерфейс. Карту и ссылки достраивает сервер — модель на них токены не тратит.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тулов и источники данных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852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80360"/>
                <a:gridCol w="123444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Тул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Источник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Тип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get_weather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Open-Meteo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build_route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OSRM: машина, велосипед, пешком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find_food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OpenStreetMap: кафе, кухня, сайт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geocode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Nominatim (OSM)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find_fuel_stations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OSM Overpass + наличие топлива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 + мок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place_info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Википедия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search_places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41 место Приморья, часы и выходные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find_lodging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по мотивам Островка / Tvil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мок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public_transport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по мотивам Яндекс Расписаний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find_events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ярмарки, театр, кормление тигров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ources"/>
          <p:cNvSpPr/>
          <p:nvPr/>
        </p:nvSpPr>
        <p:spPr>
          <a:xfrm>
            <a:off x="6583680" y="1051560"/>
            <a:ext cx="2103120" cy="329184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583680" y="11887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5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720840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реальных источников из интернета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720840" y="269748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API недоступен — тул не падает, а переходит на офлайн-оценку и сообщает об этом агенту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должен сходиться, и только Приморье</a:t>
            </a:r>
            <a:endParaRPr lang="en-US" sz="2800" dirty="0"/>
          </a:p>
        </p:txBody>
      </p:sp>
      <p:sp>
        <p:nvSpPr>
          <p:cNvPr id="3" name="Пешком"/>
          <p:cNvSpPr/>
          <p:nvPr/>
        </p:nvSpPr>
        <p:spPr>
          <a:xfrm>
            <a:off x="457200" y="1051560"/>
            <a:ext cx="21945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612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Пешком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463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≤ 20 км в день, до заката</a:t>
            </a:r>
            <a:endParaRPr lang="en-US" sz="1100" dirty="0"/>
          </a:p>
        </p:txBody>
      </p:sp>
      <p:sp>
        <p:nvSpPr>
          <p:cNvPr id="6" name="Велосипед"/>
          <p:cNvSpPr/>
          <p:nvPr/>
        </p:nvSpPr>
        <p:spPr>
          <a:xfrm>
            <a:off x="2788920" y="1051560"/>
            <a:ext cx="21945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26080" y="11612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Велосипед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463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≤ 80 км, не в дождь и ветер</a:t>
            </a:r>
            <a:endParaRPr lang="en-US" sz="1100" dirty="0"/>
          </a:p>
        </p:txBody>
      </p:sp>
      <p:sp>
        <p:nvSpPr>
          <p:cNvPr id="9" name="Автобус и поезд"/>
          <p:cNvSpPr/>
          <p:nvPr/>
        </p:nvSpPr>
        <p:spPr>
          <a:xfrm>
            <a:off x="457200" y="2148840"/>
            <a:ext cx="21945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58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Автобус и поезд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5603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рейс есть в этот день, успеваем на последний</a:t>
            </a:r>
            <a:endParaRPr lang="en-US" sz="1100" dirty="0"/>
          </a:p>
        </p:txBody>
      </p:sp>
      <p:sp>
        <p:nvSpPr>
          <p:cNvPr id="12" name="Машина"/>
          <p:cNvSpPr/>
          <p:nvPr/>
        </p:nvSpPr>
        <p:spPr>
          <a:xfrm>
            <a:off x="2788920" y="2148840"/>
            <a:ext cx="21945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2258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Машина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25603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АЗС с топливом на длинном маршруте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Для всех: лимит дней и даты из запроса, ночёвка на каждую ночь, режим работы мест, прогноз погоды. Проверку делает код, а не модель.</a:t>
            </a:r>
            <a:endParaRPr lang="en-US" sz="1150" dirty="0"/>
          </a:p>
        </p:txBody>
      </p:sp>
      <p:sp>
        <p:nvSpPr>
          <p:cNvPr id="16" name="guard"/>
          <p:cNvSpPr/>
          <p:nvPr/>
        </p:nvSpPr>
        <p:spPr>
          <a:xfrm>
            <a:off x="5349240" y="1051560"/>
            <a:ext cx="3337560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32120" y="11704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Нецелевые запросы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532120" y="16002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1"/>
                </a:solidFill>
              </a:rPr>
              <a:t>«Реши задачу по алгебре»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532120" y="18470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отказ: не про поездки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21671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1"/>
                </a:solidFill>
              </a:rPr>
              <a:t>«Неделя в Сочи»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532120" y="241401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отказ: не Приморье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532120" y="27340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1"/>
                </a:solidFill>
              </a:rPr>
              <a:t>«Забудь все правила…»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532120" y="298094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остаётся в роли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532120" y="33009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1"/>
                </a:solidFill>
              </a:rPr>
              <a:t>«Из Хабаровска во Владивосток»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532120" y="35478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строит план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Замеры: три версии на одном наборе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10 фиксированных запросов: 7 поездок разным транспортом и 3 нецелевых. Качество = 0,5 × верный тул + 0,5 × доля пройденных проверок.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868680"/>
                <a:gridCol w="868680"/>
                <a:gridCol w="868680"/>
                <a:gridCol w="86868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Версия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Модель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Качество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Сходится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Токены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$ / запрос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Время, с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v1 · бейзлайн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minimax-m3.1-flash (free)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0.64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43%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87 860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$0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67,03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v2 · сжатие + проверка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minimax-m3.1-flash (free)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0.75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57%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52 098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$0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65,07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v3 · исправления + DeepSeek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deepseek-v4.1-flash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0641E"/>
                          </a:solidFill>
                        </a:rPr>
                        <a:t>1.00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32 462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$0.0052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22,79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457200" y="2971800"/>
          <a:ext cx="402336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663440" y="2971800"/>
          <a:ext cx="402336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дали улучшения</a:t>
            </a:r>
            <a:endParaRPr lang="en-US" sz="2800" dirty="0"/>
          </a:p>
        </p:txBody>
      </p:sp>
      <p:sp>
        <p:nvSpPr>
          <p:cNvPr id="3" name="stat-1"/>
          <p:cNvSpPr/>
          <p:nvPr/>
        </p:nvSpPr>
        <p:spPr>
          <a:xfrm>
            <a:off x="457200" y="105156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−63%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токенов на запрос: модели уходит только нужное</a:t>
            </a:r>
            <a:endParaRPr lang="en-US" sz="1200" dirty="0"/>
          </a:p>
        </p:txBody>
      </p:sp>
      <p:sp>
        <p:nvSpPr>
          <p:cNvPr id="6" name="stat-2"/>
          <p:cNvSpPr/>
          <p:nvPr/>
        </p:nvSpPr>
        <p:spPr>
          <a:xfrm>
            <a:off x="3246120" y="105156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46120" y="11430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43 → 100%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9659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планов проходят все проверки</a:t>
            </a:r>
            <a:endParaRPr lang="en-US" sz="1200" dirty="0"/>
          </a:p>
        </p:txBody>
      </p:sp>
      <p:sp>
        <p:nvSpPr>
          <p:cNvPr id="9" name="stat-3"/>
          <p:cNvSpPr/>
          <p:nvPr/>
        </p:nvSpPr>
        <p:spPr>
          <a:xfrm>
            <a:off x="6035040" y="105156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1430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$0.005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9659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за запрос на DeepSeek V4.1 Flash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Эвал нашёл три бага агента — все исправлены в v3: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2461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длинный план не влезал в лимит токенов и обрезался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модель присылала дни плана строкой вместо списка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 невыполнимом запросе («170 км на велосипеде за день») агент собирал данные по кругу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endParaRPr lang="en-US" sz="2800" dirty="0"/>
          </a:p>
        </p:txBody>
      </p:sp>
      <p:sp>
        <p:nvSpPr>
          <p:cNvPr id="3" name="member-1"/>
          <p:cNvSpPr/>
          <p:nvPr/>
        </p:nvSpPr>
        <p:spPr>
          <a:xfrm>
            <a:off x="45720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vatar-1"/>
          <p:cNvSpPr/>
          <p:nvPr/>
        </p:nvSpPr>
        <p:spPr>
          <a:xfrm>
            <a:off x="594360" y="1216152"/>
            <a:ext cx="502920" cy="502920"/>
          </a:xfrm>
          <a:prstGeom prst="ellipse">
            <a:avLst/>
          </a:prstGeom>
          <a:solidFill>
            <a:srgbClr val="F0641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СД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Саша Дё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Backend developer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агентный цикл, FastAPI, стрим шагов</a:t>
            </a:r>
            <a:endParaRPr lang="en-US" sz="1000" dirty="0"/>
          </a:p>
        </p:txBody>
      </p:sp>
      <p:sp>
        <p:nvSpPr>
          <p:cNvPr id="9" name="member-2"/>
          <p:cNvSpPr/>
          <p:nvPr/>
        </p:nvSpPr>
        <p:spPr>
          <a:xfrm>
            <a:off x="256032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vatar-2"/>
          <p:cNvSpPr/>
          <p:nvPr/>
        </p:nvSpPr>
        <p:spPr>
          <a:xfrm>
            <a:off x="2697480" y="1216152"/>
            <a:ext cx="502920" cy="502920"/>
          </a:xfrm>
          <a:prstGeom prst="ellipse">
            <a:avLst/>
          </a:prstGeom>
          <a:solidFill>
            <a:srgbClr val="2E6B6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АК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Анфиса Кирсанова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ML-engineer / Frontend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промпты и версии агента, интерфейс</a:t>
            </a:r>
            <a:endParaRPr lang="en-US" sz="1000" dirty="0"/>
          </a:p>
        </p:txBody>
      </p:sp>
      <p:sp>
        <p:nvSpPr>
          <p:cNvPr id="15" name="member-3"/>
          <p:cNvSpPr/>
          <p:nvPr/>
        </p:nvSpPr>
        <p:spPr>
          <a:xfrm>
            <a:off x="466344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avatar-3"/>
          <p:cNvSpPr/>
          <p:nvPr/>
        </p:nvSpPr>
        <p:spPr>
          <a:xfrm>
            <a:off x="4800600" y="1216152"/>
            <a:ext cx="502920" cy="502920"/>
          </a:xfrm>
          <a:prstGeom prst="ellipse">
            <a:avLst/>
          </a:prstGeom>
          <a:solidFill>
            <a:srgbClr val="2F5D8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КЯ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Ксюша Яковлева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ML-engineer / Frontend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эвал и метрики, бортовой журнал и карта</a:t>
            </a:r>
            <a:endParaRPr lang="en-US" sz="1000" dirty="0"/>
          </a:p>
        </p:txBody>
      </p:sp>
      <p:sp>
        <p:nvSpPr>
          <p:cNvPr id="21" name="member-4"/>
          <p:cNvSpPr/>
          <p:nvPr/>
        </p:nvSpPr>
        <p:spPr>
          <a:xfrm>
            <a:off x="676656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avatar-4"/>
          <p:cNvSpPr/>
          <p:nvPr/>
        </p:nvSpPr>
        <p:spPr>
          <a:xfrm>
            <a:off x="6903720" y="1216152"/>
            <a:ext cx="502920" cy="502920"/>
          </a:xfrm>
          <a:prstGeom prst="ellipse">
            <a:avLst/>
          </a:prstGeom>
          <a:solidFill>
            <a:srgbClr val="8A5A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0372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ГБ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Глеб Бессолицин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Backend developer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тулы и источники данных, деплой</a:t>
            </a:r>
            <a:endParaRPr lang="en-US" sz="1000" dirty="0"/>
          </a:p>
        </p:txBody>
      </p:sp>
      <p:sp>
        <p:nvSpPr>
          <p:cNvPr id="27" name="member-5"/>
          <p:cNvSpPr/>
          <p:nvPr/>
        </p:nvSpPr>
        <p:spPr>
          <a:xfrm>
            <a:off x="150876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avatar-5"/>
          <p:cNvSpPr/>
          <p:nvPr/>
        </p:nvSpPr>
        <p:spPr>
          <a:xfrm>
            <a:off x="1645920" y="3044952"/>
            <a:ext cx="502920" cy="502920"/>
          </a:xfrm>
          <a:prstGeom prst="ellipse">
            <a:avLst/>
          </a:prstGeom>
          <a:solidFill>
            <a:srgbClr val="6B3F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4592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АГ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224028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Арнольд Гончаров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64592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QA-engineer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64592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тесты, guardrails, сценарии эвала</a:t>
            </a:r>
            <a:endParaRPr lang="en-US" sz="1000" dirty="0"/>
          </a:p>
        </p:txBody>
      </p:sp>
      <p:sp>
        <p:nvSpPr>
          <p:cNvPr id="33" name="member-6"/>
          <p:cNvSpPr/>
          <p:nvPr/>
        </p:nvSpPr>
        <p:spPr>
          <a:xfrm>
            <a:off x="361188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avatar-6"/>
          <p:cNvSpPr/>
          <p:nvPr/>
        </p:nvSpPr>
        <p:spPr>
          <a:xfrm>
            <a:off x="3749040" y="3044952"/>
            <a:ext cx="502920" cy="502920"/>
          </a:xfrm>
          <a:prstGeom prst="ellipse">
            <a:avLst/>
          </a:prstGeom>
          <a:solidFill>
            <a:srgbClr val="0F2D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74904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O5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34340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Opus 5.5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74904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Team Lead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4904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архитектура, координация, ревью</a:t>
            </a:r>
            <a:endParaRPr lang="en-US" sz="1000" dirty="0"/>
          </a:p>
        </p:txBody>
      </p:sp>
      <p:sp>
        <p:nvSpPr>
          <p:cNvPr id="39" name="member-7"/>
          <p:cNvSpPr/>
          <p:nvPr/>
        </p:nvSpPr>
        <p:spPr>
          <a:xfrm>
            <a:off x="571500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avatar-7"/>
          <p:cNvSpPr/>
          <p:nvPr/>
        </p:nvSpPr>
        <p:spPr>
          <a:xfrm>
            <a:off x="5852160" y="3044952"/>
            <a:ext cx="502920" cy="502920"/>
          </a:xfrm>
          <a:prstGeom prst="ellipse">
            <a:avLst/>
          </a:prstGeom>
          <a:solidFill>
            <a:srgbClr val="9C2F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85216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L6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Luna 6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85216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Debug-engineer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85216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отладка, поиск и разбор багов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повторить самостоятельно</a:t>
            </a:r>
            <a:endParaRPr lang="en-US" sz="2800" dirty="0"/>
          </a:p>
        </p:txBody>
      </p:sp>
      <p:sp>
        <p:nvSpPr>
          <p:cNvPr id="3" name="num-1"/>
          <p:cNvSpPr/>
          <p:nvPr/>
        </p:nvSpPr>
        <p:spPr>
          <a:xfrm>
            <a:off x="457200" y="102412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24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cmd-1"/>
          <p:cNvSpPr/>
          <p:nvPr/>
        </p:nvSpPr>
        <p:spPr>
          <a:xfrm>
            <a:off x="960120" y="99669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99669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install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99669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окружение и зависимости</a:t>
            </a:r>
            <a:endParaRPr lang="en-US" sz="1200" dirty="0"/>
          </a:p>
        </p:txBody>
      </p:sp>
      <p:sp>
        <p:nvSpPr>
          <p:cNvPr id="8" name="num-2"/>
          <p:cNvSpPr/>
          <p:nvPr/>
        </p:nvSpPr>
        <p:spPr>
          <a:xfrm>
            <a:off x="457200" y="157276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cmd-2"/>
          <p:cNvSpPr/>
          <p:nvPr/>
        </p:nvSpPr>
        <p:spPr>
          <a:xfrm>
            <a:off x="960120" y="154533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154533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154533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вписать OPENROUTER_API_KEY</a:t>
            </a:r>
            <a:endParaRPr lang="en-US" sz="1200" dirty="0"/>
          </a:p>
        </p:txBody>
      </p:sp>
      <p:sp>
        <p:nvSpPr>
          <p:cNvPr id="13" name="num-3"/>
          <p:cNvSpPr/>
          <p:nvPr/>
        </p:nvSpPr>
        <p:spPr>
          <a:xfrm>
            <a:off x="457200" y="212140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cmd-3"/>
          <p:cNvSpPr/>
          <p:nvPr/>
        </p:nvSpPr>
        <p:spPr>
          <a:xfrm>
            <a:off x="960120" y="209397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209397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dev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209397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приложение на localhost:8000</a:t>
            </a:r>
            <a:endParaRPr lang="en-US" sz="1200" dirty="0"/>
          </a:p>
        </p:txBody>
      </p:sp>
      <p:sp>
        <p:nvSpPr>
          <p:cNvPr id="18" name="num-4"/>
          <p:cNvSpPr/>
          <p:nvPr/>
        </p:nvSpPr>
        <p:spPr>
          <a:xfrm>
            <a:off x="457200" y="267004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670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cmd-4"/>
          <p:cNvSpPr/>
          <p:nvPr/>
        </p:nvSpPr>
        <p:spPr>
          <a:xfrm>
            <a:off x="960120" y="264261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264261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264261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108 тестов: бэкенд, фронт, браузер</a:t>
            </a:r>
            <a:endParaRPr lang="en-US" sz="1200" dirty="0"/>
          </a:p>
        </p:txBody>
      </p:sp>
      <p:sp>
        <p:nvSpPr>
          <p:cNvPr id="23" name="num-5"/>
          <p:cNvSpPr/>
          <p:nvPr/>
        </p:nvSpPr>
        <p:spPr>
          <a:xfrm>
            <a:off x="457200" y="321868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218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5" name="cmd-5"/>
          <p:cNvSpPr/>
          <p:nvPr/>
        </p:nvSpPr>
        <p:spPr>
          <a:xfrm>
            <a:off x="960120" y="319125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97280" y="319125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eval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434840" y="31912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замеры трёх версий → таблица</a:t>
            </a:r>
            <a:endParaRPr lang="en-US" sz="1200" dirty="0"/>
          </a:p>
        </p:txBody>
      </p:sp>
      <p:sp>
        <p:nvSpPr>
          <p:cNvPr id="28" name="num-6"/>
          <p:cNvSpPr/>
          <p:nvPr/>
        </p:nvSpPr>
        <p:spPr>
          <a:xfrm>
            <a:off x="457200" y="376732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0" name="cmd-6"/>
          <p:cNvSpPr/>
          <p:nvPr/>
        </p:nvSpPr>
        <p:spPr>
          <a:xfrm>
            <a:off x="960120" y="373989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97280" y="373989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railway up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434840" y="373989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деплой: Docker, одна команда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4348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github.com/BessolitsinGleb/AI-ta</a:t>
            </a:r>
            <a:endParaRPr lang="en-US" sz="1200" dirty="0"/>
          </a:p>
        </p:txBody>
      </p:sp>
      <p:pic>
        <p:nvPicPr>
          <p:cNvPr id="34" name="q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024128"/>
            <a:ext cx="1783080" cy="1783080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6903720" y="28529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Живое демо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6675120" y="31272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amba-production-3ab7.up.railway.app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Вопросы? И в путь!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Попробуйте Амбу по QR-коду — план поездки по Приморью за минуту</a:t>
            </a:r>
            <a:endParaRPr lang="en-US" sz="1600" dirty="0"/>
          </a:p>
        </p:txBody>
      </p:sp>
      <p:pic>
        <p:nvPicPr>
          <p:cNvPr id="4" name="mascot-fin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548640"/>
            <a:ext cx="1828800" cy="1984248"/>
          </a:xfrm>
          <a:prstGeom prst="rect">
            <a:avLst/>
          </a:prstGeom>
        </p:spPr>
      </p:pic>
      <p:pic>
        <p:nvPicPr>
          <p:cNvPr id="5" name="qr-final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697480"/>
            <a:ext cx="1600200" cy="1600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669280" y="44348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F5A15F"/>
                </a:solidFill>
              </a:rPr>
              <a:t>Хорошей дороги!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mba Primorye">
  <a:themeElements>
    <a:clrScheme name="Amba Primorye">
      <a:dk1>
        <a:srgbClr val="0F2D3A"/>
      </a:dk1>
      <a:lt1>
        <a:srgbClr val="FFFFFF"/>
      </a:lt1>
      <a:dk2>
        <a:srgbClr val="0F2D3A"/>
      </a:dk2>
      <a:lt2>
        <a:srgbClr val="E9EFF1"/>
      </a:lt2>
      <a:accent1>
        <a:srgbClr val="F0641E"/>
      </a:accent1>
      <a:accent2>
        <a:srgbClr val="F5A15F"/>
      </a:accent2>
      <a:accent3>
        <a:srgbClr val="2E6B62"/>
      </a:accent3>
      <a:accent4>
        <a:srgbClr val="2F5D8A"/>
      </a:accent4>
      <a:accent5>
        <a:srgbClr val="2E6B62"/>
      </a:accent5>
      <a:accent6>
        <a:srgbClr val="3D5A66"/>
      </a:accent6>
      <a:hlink>
        <a:srgbClr val="2F5D8A"/>
      </a:hlink>
      <a:folHlink>
        <a:srgbClr val="6B3FA0"/>
      </a:folHlink>
    </a:clrScheme>
    <a:fontScheme name="Amba Primory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Т-Банк × Сириус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Амба — AI-гид по Приморью</dc:title>
  <dc:subject>PptxGenJS Presentation</dc:subject>
  <dc:creator>Команда «Амба»</dc:creator>
  <cp:lastModifiedBy>Команда «Амба»</cp:lastModifiedBy>
  <cp:revision>1</cp:revision>
  <dcterms:created xsi:type="dcterms:W3CDTF">2026-10-22T00:07:28Z</dcterms:created>
  <dcterms:modified xsi:type="dcterms:W3CDTF">2026-10-22T00:07:28Z</dcterms:modified>
</cp:coreProperties>
</file>