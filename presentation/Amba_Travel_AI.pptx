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68b9d785-0606-c10d-9fad-f31553f473be}">
          <p14:sldIdLst>
            <p14:sldId id="256"/>
          </p14:sldIdLst>
        </p14:section>
        <p14:section name="Задача" id="{b0b1bade-1c7e-7c8b-dcf5-48dd068d6941}">
          <p14:sldIdLst>
            <p14:sldId id="257"/>
            <p14:sldId id="258"/>
          </p14:sldIdLst>
        </p14:section>
        <p14:section name="Решение" id="{0ae5ad04-9cb5-b8c8-b329-6efbf0f5d369}">
          <p14:sldIdLst>
            <p14:sldId id="259"/>
            <p14:sldId id="260"/>
            <p14:sldId id="261"/>
            <p14:sldId id="262"/>
          </p14:sldIdLst>
        </p14:section>
        <p14:section name="Замеры" id="{d1f19482-9be7-5e8d-a97a-41b4d2c34962}">
          <p14:sldIdLst>
            <p14:sldId id="263"/>
            <p14:sldId id="264"/>
          </p14:sldIdLst>
        </p14:section>
        <p14:section name="Команда" id="{9fcbecf6-56c2-d7c2-f042-35405b3c6317}">
          <p14:sldIdLst>
            <p14:sldId id="265"/>
          </p14:sldIdLst>
        </p14:section>
        <p14:section name="Итоги" id="{55186cd4-f36f-f7e8-d150-45af7da119c3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E6B6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87860</c:v>
                </c:pt>
                <c:pt idx="1">
                  <c:v>52098</c:v>
                </c:pt>
                <c:pt idx="2">
                  <c:v>32462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 (0–1)</c:v>
                </c:pt>
              </c:strCache>
            </c:strRef>
          </c:tx>
          <c:spPr>
            <a:solidFill>
              <a:srgbClr val="F064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0.643</c:v>
                </c:pt>
                <c:pt idx="1">
                  <c:v>0.75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· к концу слайда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1:10]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1:45]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2:35]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OpenStreetMap. У каждого пункта есть ссылки: карта, сайт, расписание и билеты, гостиницы рядом. Демо открыто по ссылке на последнем слайде.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3:25]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· к концу слайда 4:00]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· к концу слайда 4:50]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отклоняет, а поездку из Хабаровска во Владивосток спокойно планирует.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 · к концу слайда 5:45]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· к концу слайда 6:25]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6:55]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· к концу слайда 7:25]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Код открыт на GitHub, а по QR-коду можно попробовать Амбу прямо сейчас.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 · к концу слайда 7:35] Спасибо! Готовы ответить на вопросы. Хорошей дороги!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59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15F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Амба — AI-гид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Пишете поездку обычными словами — агент собирает план и проверяет, что он сходится с реальностью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6035040" y="3840480"/>
            <a:ext cx="256032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19050">
            <a:solidFill>
              <a:srgbClr val="F0641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1"/>
                </a:solidFill>
              </a:rPr>
              <a:t>Привет! Куда поедем?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расписания, режим музеев, АЗС, жильё, кафе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Чат-боты ошибаются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Ведут в закрытый музей, на велосипед под ливень, предлагают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впервые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463040"/>
                <a:gridCol w="128016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Чат-боты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План целиком: места, путь, ночёвка, еда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Проверка погоды и режима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Ограничения транспорта: АЗС, рейсы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Ссылки, чтобы сразу всё оформить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сфокусирован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37185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0" y="10241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Сначала уточнит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31673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1–2 коротких вопроса с вариантами: кухня, бюджет, темп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1920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Реальные кафе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21284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из OpenStreetMap: кухня, часы, сайт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163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Ссылки у каждого пункта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108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карта, сайт, расписание и билеты, гостиницы рядом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37124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Маршрут по улицам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4005072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карта по дням; вид «Бортовой журнал» — в морском стиле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5272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Фильтр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не про Приморье — отказ за 0 токенов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5272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Уточнение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1–2 вопроса, если важного не хватает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Выбор тулов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решает, какие данные нужны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Вызов тулов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места, погода, еда, жильё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5272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План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submit_plan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43000"/>
            <a:ext cx="1280160" cy="18288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5272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52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3736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Проверка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10312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агенту на исправление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3246120" y="3154680"/>
            <a:ext cx="4114800" cy="411480"/>
          </a:xfrm>
          <a:prstGeom prst="roundRect">
            <a:avLst>
              <a:gd name="adj" fmla="val 48889"/>
            </a:avLst>
          </a:prstGeom>
          <a:solidFill>
            <a:srgbClr val="E3F0EC"/>
          </a:solidFill>
          <a:ln w="12700">
            <a:solidFill>
              <a:srgbClr val="2E6B6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4612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шаги 3–5 повторяются, пока данных не хватит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FastAPI + OpenRouter tool calling, цикл написан с нуля, без агентных фреймворков. Модель — DeepSeek V4.1 Flash. Шаги агента стримятся в интерфейс. Карту и ссылки достраивает сервер — модель на них токены не тратит.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тулов и источники данных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OSRM: машина, велосипед,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find_food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OpenStreetMap: кафе, кухня, сайт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Википедия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ources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1887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116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69748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переходит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должен сходиться, и только Приморье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Пешком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до заката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5156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1612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Велосипед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463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км, не в дождь и ветер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Автобус и поезд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148840"/>
            <a:ext cx="219456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258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Машина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560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топливом на длинном маршруте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Для всех: лимит дней и даты из запроса, ночёвка на каждую ночь, режим работы мест, прогноз погоды. Проверку делает код, а не модель.</a:t>
            </a:r>
            <a:endParaRPr lang="en-US" sz="1150" dirty="0"/>
          </a:p>
        </p:txBody>
      </p:sp>
      <p:sp>
        <p:nvSpPr>
          <p:cNvPr id="16" name="guard"/>
          <p:cNvSpPr/>
          <p:nvPr/>
        </p:nvSpPr>
        <p:spPr>
          <a:xfrm>
            <a:off x="5349240" y="1051560"/>
            <a:ext cx="333756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32120" y="11704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Нецелевые запросы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1600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«Реши задачу по алгебре»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18470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про поездки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1671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«Неделя в Сочи»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41401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отказ: не Приморье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7340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«Забудь все правила…»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29809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остаётся в роли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53212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1"/>
                </a:solidFill>
              </a:rPr>
              <a:t>«Из Хабаровска во Владивосток»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3547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строит план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Замеры: три версии на одном наборе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10 фиксированных запросов: 7 поездок разным транспортом и 3 нецелевых. Качество = 0,5 × верный тул + 0,5 × доля пройденных проверок.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868680"/>
                <a:gridCol w="868680"/>
                <a:gridCol w="868680"/>
                <a:gridCol w="86868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Версия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43%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87 860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67,03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v2 · сжатие + проверка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minimax-m3.1-flash (free)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0.75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52 098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65,07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v3 · исправления + DeepSeek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deepseek-v4.1-flash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1.00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100%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32 462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$0.0052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22,79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5720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663440" y="2971800"/>
          <a:ext cx="402336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−63%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запрос: модели уходит только нужное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43 → 100%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планов проходят все проверки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51560"/>
            <a:ext cx="260604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430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$0.005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9659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 запрос на DeepSeek V4.1 Flash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Эвал нашёл три бага агента — все исправлены в v3: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длинный план не влезал в лимит токенов и обрезался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модель присылала дни плана строкой вместо списка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 невыполнимом запросе («170 км на велосипеде за день») агент собирал данные по кругу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594360" y="1216152"/>
            <a:ext cx="502920" cy="502920"/>
          </a:xfrm>
          <a:prstGeom prst="ellipse">
            <a:avLst/>
          </a:prstGeom>
          <a:solidFill>
            <a:srgbClr val="F064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Саша Дё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агентный цикл, FastAPI, стрим шагов</a:t>
            </a:r>
            <a:endParaRPr lang="en-US" sz="1000" dirty="0"/>
          </a:p>
        </p:txBody>
      </p:sp>
      <p:sp>
        <p:nvSpPr>
          <p:cNvPr id="9" name="member-2"/>
          <p:cNvSpPr/>
          <p:nvPr/>
        </p:nvSpPr>
        <p:spPr>
          <a:xfrm>
            <a:off x="256032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2697480" y="1216152"/>
            <a:ext cx="502920" cy="502920"/>
          </a:xfrm>
          <a:prstGeom prst="ellipse">
            <a:avLst/>
          </a:prstGeom>
          <a:solidFill>
            <a:srgbClr val="2E6B6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АК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Анфиса Кирсанова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промпты и версии агента, интерфейс</a:t>
            </a:r>
            <a:endParaRPr lang="en-US" sz="1000" dirty="0"/>
          </a:p>
        </p:txBody>
      </p:sp>
      <p:sp>
        <p:nvSpPr>
          <p:cNvPr id="15" name="member-3"/>
          <p:cNvSpPr/>
          <p:nvPr/>
        </p:nvSpPr>
        <p:spPr>
          <a:xfrm>
            <a:off x="466344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4800600" y="1216152"/>
            <a:ext cx="502920" cy="502920"/>
          </a:xfrm>
          <a:prstGeom prst="ellipse">
            <a:avLst/>
          </a:prstGeom>
          <a:solidFill>
            <a:srgbClr val="2F5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КЯ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Ксюша Яковлева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эвал и метрики, бортовой журнал и карта</a:t>
            </a:r>
            <a:endParaRPr lang="en-US" sz="1000" dirty="0"/>
          </a:p>
        </p:txBody>
      </p:sp>
      <p:sp>
        <p:nvSpPr>
          <p:cNvPr id="21" name="member-4"/>
          <p:cNvSpPr/>
          <p:nvPr/>
        </p:nvSpPr>
        <p:spPr>
          <a:xfrm>
            <a:off x="676656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6903720" y="1216152"/>
            <a:ext cx="502920" cy="502920"/>
          </a:xfrm>
          <a:prstGeom prst="ellipse">
            <a:avLst/>
          </a:prstGeom>
          <a:solidFill>
            <a:srgbClr val="8A5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Глеб Бессолицин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тулы и источники данных, деплой</a:t>
            </a:r>
            <a:endParaRPr lang="en-US" sz="1000" dirty="0"/>
          </a:p>
        </p:txBody>
      </p:sp>
      <p:sp>
        <p:nvSpPr>
          <p:cNvPr id="27" name="member-5"/>
          <p:cNvSpPr/>
          <p:nvPr/>
        </p:nvSpPr>
        <p:spPr>
          <a:xfrm>
            <a:off x="150876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vatar-5"/>
          <p:cNvSpPr/>
          <p:nvPr/>
        </p:nvSpPr>
        <p:spPr>
          <a:xfrm>
            <a:off x="1645920" y="3044952"/>
            <a:ext cx="502920" cy="502920"/>
          </a:xfrm>
          <a:prstGeom prst="ellipse">
            <a:avLst/>
          </a:prstGeom>
          <a:solidFill>
            <a:srgbClr val="6B3F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4592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АГ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Арнольд Гончаров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QA-engineer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тесты, guardrails, сценарии эвала</a:t>
            </a:r>
            <a:endParaRPr lang="en-US" sz="1000" dirty="0"/>
          </a:p>
        </p:txBody>
      </p:sp>
      <p:sp>
        <p:nvSpPr>
          <p:cNvPr id="33" name="member-6"/>
          <p:cNvSpPr/>
          <p:nvPr/>
        </p:nvSpPr>
        <p:spPr>
          <a:xfrm>
            <a:off x="361188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avatar-6"/>
          <p:cNvSpPr/>
          <p:nvPr/>
        </p:nvSpPr>
        <p:spPr>
          <a:xfrm>
            <a:off x="3749040" y="3044952"/>
            <a:ext cx="502920" cy="502920"/>
          </a:xfrm>
          <a:prstGeom prst="ellipse">
            <a:avLst/>
          </a:prstGeom>
          <a:solidFill>
            <a:srgbClr val="0F2D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Opus 5.5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7490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Team Lead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архитектура, координация, ревью</a:t>
            </a:r>
            <a:endParaRPr lang="en-US" sz="1000" dirty="0"/>
          </a:p>
        </p:txBody>
      </p:sp>
      <p:sp>
        <p:nvSpPr>
          <p:cNvPr id="39" name="member-7"/>
          <p:cNvSpPr/>
          <p:nvPr/>
        </p:nvSpPr>
        <p:spPr>
          <a:xfrm>
            <a:off x="571500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avatar-7"/>
          <p:cNvSpPr/>
          <p:nvPr/>
        </p:nvSpPr>
        <p:spPr>
          <a:xfrm>
            <a:off x="5852160" y="3044952"/>
            <a:ext cx="502920" cy="502920"/>
          </a:xfrm>
          <a:prstGeom prst="ellipse">
            <a:avLst/>
          </a:prstGeom>
          <a:solidFill>
            <a:srgbClr val="9C2F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Luna 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8521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Debug-engineer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85216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отладка, поиск и разбор багов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241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24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960120" y="9966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9966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9966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окружение и зависимости</a:t>
            </a:r>
            <a:endParaRPr lang="en-US" sz="1200" dirty="0"/>
          </a:p>
        </p:txBody>
      </p:sp>
      <p:sp>
        <p:nvSpPr>
          <p:cNvPr id="8" name="num-2"/>
          <p:cNvSpPr/>
          <p:nvPr/>
        </p:nvSpPr>
        <p:spPr>
          <a:xfrm>
            <a:off x="457200" y="157276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960120" y="154533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154533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154533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вписать OPENROUTER_API_KEY</a:t>
            </a:r>
            <a:endParaRPr lang="en-US" sz="1200" dirty="0"/>
          </a:p>
        </p:txBody>
      </p:sp>
      <p:sp>
        <p:nvSpPr>
          <p:cNvPr id="13" name="num-3"/>
          <p:cNvSpPr/>
          <p:nvPr/>
        </p:nvSpPr>
        <p:spPr>
          <a:xfrm>
            <a:off x="457200" y="212140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960120" y="209397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209397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0939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приложение на localhost:8000</a:t>
            </a:r>
            <a:endParaRPr lang="en-US" sz="1200" dirty="0"/>
          </a:p>
        </p:txBody>
      </p:sp>
      <p:sp>
        <p:nvSpPr>
          <p:cNvPr id="18" name="num-4"/>
          <p:cNvSpPr/>
          <p:nvPr/>
        </p:nvSpPr>
        <p:spPr>
          <a:xfrm>
            <a:off x="457200" y="267004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70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960120" y="264261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26426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26426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108 тестов: бэкенд, фронт, браузер</a:t>
            </a:r>
            <a:endParaRPr lang="en-US" sz="1200" dirty="0"/>
          </a:p>
        </p:txBody>
      </p:sp>
      <p:sp>
        <p:nvSpPr>
          <p:cNvPr id="23" name="num-5"/>
          <p:cNvSpPr/>
          <p:nvPr/>
        </p:nvSpPr>
        <p:spPr>
          <a:xfrm>
            <a:off x="457200" y="321868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18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960120" y="319125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319125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31912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замеры трёх версий → таблица</a:t>
            </a:r>
            <a:endParaRPr lang="en-US" sz="1200" dirty="0"/>
          </a:p>
        </p:txBody>
      </p:sp>
      <p:sp>
        <p:nvSpPr>
          <p:cNvPr id="28" name="num-6"/>
          <p:cNvSpPr/>
          <p:nvPr/>
        </p:nvSpPr>
        <p:spPr>
          <a:xfrm>
            <a:off x="457200" y="3767328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960120" y="3739896"/>
            <a:ext cx="3291840" cy="420624"/>
          </a:xfrm>
          <a:prstGeom prst="roundRect">
            <a:avLst>
              <a:gd name="adj" fmla="val 2608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97280" y="373989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railway up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34840" y="373989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деплой: Docker, одна команда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4348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github.com/BessolitsinGleb/AI-ta</a:t>
            </a:r>
            <a:endParaRPr lang="en-US" sz="1200" dirty="0"/>
          </a:p>
        </p:txBody>
      </p:sp>
      <p:pic>
        <p:nvPicPr>
          <p:cNvPr id="34" name="q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024128"/>
            <a:ext cx="1783080" cy="1783080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6903720" y="28529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Живое демо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6675120" y="31272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amba-production-3ab7.up.railway.app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Попробуйте Амбу по QR-коду — план поездки по Приморью за минуту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548640"/>
            <a:ext cx="1828800" cy="1984248"/>
          </a:xfrm>
          <a:prstGeom prst="rect">
            <a:avLst/>
          </a:prstGeom>
        </p:spPr>
      </p:pic>
      <p:pic>
        <p:nvPicPr>
          <p:cNvPr id="5" name="qr-fin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697480"/>
            <a:ext cx="1600200" cy="1600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669280" y="4434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F5A15F"/>
                </a:solidFill>
              </a:rPr>
              <a:t>Хорошей дороги!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0F2D3A"/>
      </a:dk1>
      <a:lt1>
        <a:srgbClr val="FFFFFF"/>
      </a:lt1>
      <a:dk2>
        <a:srgbClr val="0F2D3A"/>
      </a:dk2>
      <a:lt2>
        <a:srgbClr val="E9EFF1"/>
      </a:lt2>
      <a:accent1>
        <a:srgbClr val="F0641E"/>
      </a:accent1>
      <a:accent2>
        <a:srgbClr val="F5A15F"/>
      </a:accent2>
      <a:accent3>
        <a:srgbClr val="2E6B62"/>
      </a:accent3>
      <a:accent4>
        <a:srgbClr val="2F5D8A"/>
      </a:accent4>
      <a:accent5>
        <a:srgbClr val="2E6B62"/>
      </a:accent5>
      <a:accent6>
        <a:srgbClr val="3D5A66"/>
      </a:accent6>
      <a:hlink>
        <a:srgbClr val="2F5D8A"/>
      </a:hlink>
      <a:folHlink>
        <a:srgbClr val="6B3FA0"/>
      </a:folHlink>
    </a:clrScheme>
    <a:fontScheme name="Amba Primory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AI-гид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2026-10-22T00:03:56Z</dcterms:created>
  <dcterms:modified xsi:type="dcterms:W3CDTF">2026-10-22T00:03:56Z</dcterms:modified>
</cp:coreProperties>
</file>