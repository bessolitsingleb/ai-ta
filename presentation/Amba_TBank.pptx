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olors6.xml" ContentType="application/vnd.ms-office.chartcolorstyle+xml"/>
  <Override PartName="/ppt/charts/colors7.xml" ContentType="application/vnd.ms-office.chartcolorstyle+xml"/>
  <Override PartName="/ppt/charts/style6.xml" ContentType="application/vnd.ms-office.chartstyle+xml"/>
  <Override PartName="/ppt/charts/style7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59.xml" ContentType="application/vnd.openxmlformats-officedocument.presentationml.slide+xml"/>
  <Override PartName="/ppt/slides/slide64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82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756" r:id="rId21"/>
    <p:sldId id="752" r:id="rId16"/>
    <p:sldId id="2147377181" r:id="rId69"/>
    <p:sldId id="2147377429" r:id="rId97"/>
    <p:sldId id="2147377430" r:id="rId98"/>
    <p:sldId id="2147377163" r:id="rId60"/>
    <p:sldId id="761" r:id="rId22"/>
    <p:sldId id="808" r:id="rId54"/>
    <p:sldId id="2147377261" r:id="rId27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36" Type="http://schemas.openxmlformats.org/officeDocument/2006/relationships/slide" Target="slides/slide35.xml"/><Relationship Id="rId54" Type="http://schemas.openxmlformats.org/officeDocument/2006/relationships/slide" Target="slides/slide5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83" Type="http://schemas.openxmlformats.org/officeDocument/2006/relationships/slide" Target="slides/slide82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Relationship Id="rId97" Type="http://schemas.openxmlformats.org/officeDocument/2006/relationships/slide" Target="slides/slide84.xml"/><Relationship Id="rId98" Type="http://schemas.openxmlformats.org/officeDocument/2006/relationships/slide" Target="slides/slide85.xml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_____Microsoft_Excel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_____Microsoft_Excel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DAECBD"/>
            </a:solidFill>
            <a:ln>
              <a:noFill/>
            </a:ln>
            <a:effectLst/>
          </c:spPr>
          <c:invertIfNegative val="0"/>
          <c:dPt>
            <c:idx val="0"/>
            <c:spPr>
              <a:solidFill>
                <a:srgbClr val="E0E1E3"/>
              </a:solidFill>
            </c:spPr>
          </c:dPt>
          <c:dPt>
            <c:idx val="1"/>
            <c:spPr>
              <a:solidFill>
                <a:srgbClr val="E0E1E3"/>
              </a:solidFill>
            </c:spPr>
          </c:dPt>
          <c:dPt>
            <c:idx val="2"/>
            <c:spPr>
              <a:solidFill>
                <a:srgbClr val="FFDD2D"/>
              </a:solidFill>
            </c:spPr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accent2"/>
                    </a:solidFill>
                    <a:latin typeface="T-Sans Medium" pitchFamily="2" charset="0"/>
                    <a:ea typeface="T-Sans Medium" pitchFamily="2" charset="0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v1 базовая</c:v>
                </c:pt>
                <c:pt idx="1">
                  <c:v>v2 сжатие и сверка</c:v>
                </c:pt>
                <c:pt idx="2">
                  <c:v>v3 финальная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48F-F740-B25E-EF4E5F1180CC}"/>
            </c:ext>
          </c:extLst>
        </c:ser>
        <c:dLbls>
          <c:numFmt formatCode="0.00" sourceLinked="0"/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"/>
        <c:overlap val="-5"/>
        <c:axId val="1659727247"/>
        <c:axId val="1629070831"/>
      </c:barChart>
      <c:catAx>
        <c:axId val="16597272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9050" cap="flat" cmpd="sng" algn="ctr">
            <a:solidFill>
              <a:schemeClr val="accent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accent2"/>
                </a:solidFill>
                <a:latin typeface="T-Sans" pitchFamily="2" charset="0"/>
                <a:ea typeface="T-Sans" pitchFamily="2" charset="0"/>
                <a:cs typeface="+mn-cs"/>
              </a:defRPr>
            </a:pPr>
            <a:endParaRPr lang="ru-RU"/>
          </a:p>
        </c:txPr>
        <c:crossAx val="1629070831"/>
        <c:crosses val="autoZero"/>
        <c:auto val="1"/>
        <c:lblAlgn val="ctr"/>
        <c:lblOffset val="100"/>
        <c:noMultiLvlLbl val="0"/>
      </c:catAx>
      <c:valAx>
        <c:axId val="162907083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597272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 b="0" i="0">
          <a:solidFill>
            <a:schemeClr val="accent2"/>
          </a:solidFill>
          <a:latin typeface="T-Sans Medium" pitchFamily="2" charset="0"/>
          <a:ea typeface="T-Sans Medium" pitchFamily="2" charset="0"/>
        </a:defRPr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spPr>
              <a:solidFill>
                <a:srgbClr val="E0E1E3"/>
              </a:solidFill>
            </c:spPr>
          </c:dPt>
          <c:dPt>
            <c:idx val="1"/>
            <c:spPr>
              <a:solidFill>
                <a:srgbClr val="E0E1E3"/>
              </a:solidFill>
            </c:spPr>
          </c:dPt>
          <c:dPt>
            <c:idx val="2"/>
            <c:spPr>
              <a:solidFill>
                <a:srgbClr val="FFDD2D"/>
              </a:solidFill>
            </c:spPr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accent2"/>
                    </a:solidFill>
                    <a:latin typeface="T-Sans Medium" pitchFamily="2" charset="0"/>
                    <a:ea typeface="T-Sans Medium" pitchFamily="2" charset="0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v1 базовая</c:v>
                </c:pt>
                <c:pt idx="1">
                  <c:v>v2 сжатие и сверка</c:v>
                </c:pt>
                <c:pt idx="2">
                  <c:v>v3 финальная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</c:v>
                </c:pt>
                <c:pt idx="1">
                  <c:v>52</c:v>
                </c:pt>
                <c:pt idx="2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91-4441-9650-92C272225EB6}"/>
            </c:ext>
          </c:extLst>
        </c:ser>
        <c:dLbls>
          <c:numFmt formatCode="0" sourceLinked="0"/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"/>
        <c:axId val="1659727247"/>
        <c:axId val="1629070831"/>
      </c:barChart>
      <c:catAx>
        <c:axId val="1659727247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accent6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accent2"/>
                </a:solidFill>
                <a:latin typeface="T-Sans" pitchFamily="2" charset="0"/>
                <a:ea typeface="T-Sans" pitchFamily="2" charset="0"/>
                <a:cs typeface="+mn-cs"/>
              </a:defRPr>
            </a:pPr>
            <a:endParaRPr lang="ru-RU"/>
          </a:p>
        </c:txPr>
        <c:crossAx val="1629070831"/>
        <c:crosses val="autoZero"/>
        <c:auto val="1"/>
        <c:lblAlgn val="ctr"/>
        <c:lblOffset val="100"/>
        <c:noMultiLvlLbl val="0"/>
      </c:catAx>
      <c:valAx>
        <c:axId val="1629070831"/>
        <c:scaling>
          <c:orientation val="minMax"/>
        </c:scaling>
        <c:delete val="1"/>
        <c:axPos val="t"/>
        <c:numFmt formatCode="0%" sourceLinked="1"/>
        <c:majorTickMark val="none"/>
        <c:minorTickMark val="none"/>
        <c:tickLblPos val="nextTo"/>
        <c:crossAx val="16597272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 b="0" i="0">
          <a:solidFill>
            <a:schemeClr val="accent2"/>
          </a:solidFill>
          <a:latin typeface="T-Sans Medium" pitchFamily="2" charset="0"/>
          <a:ea typeface="T-Sans Medium" pitchFamily="2" charset="0"/>
        </a:defRPr>
      </a:pPr>
      <a:endParaRPr lang="ru-RU"/>
    </a:p>
  </c:txPr>
  <c:externalData r:id="rId3">
    <c:autoUpdate val="0"/>
  </c:externalData>
</c:chartSpac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(спикер 1) — 0:10] Здравствуйте! Мы команда «Амба». Амба — амурский тигрёнок и наш AI-гид по Приморскому краю.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[Ссылки (спикер 2) — 0:10] Левый QR — сайт команды, правый — сама Амба: зарегистрируйтесь и попробуйте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[Мотивация (спикер 1) — 0:35] Представьте: вы впервые во Владивостоке и хотите на выходные к морю. Погода, дороги, кафе, заправки, расписания — всё на разных сайтах. Чат-бот выдаст план за секунду, но не проверит его и отправит в закрытый музей или в кафе за сорок километров. Наши пользователи — гости края, местные жители и travel-сервисы банков, где из плана можно сразу перейти к брони.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[Цель проекта (спикер 1) — 0:25] Отсюда цель: AI-гид, который по запросу обычными словами собирает план поездки по Приморью и сам проверяет его по реальным данным. Проверка — то, чего нет ни у одного из аналогов.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[План работы (спикер 1) — 0:15] Мы шли в четыре этапа: данные и инструменты, агентный цикл, проверка плана и замеры. Номер этапа будет в заголовке и на полосе внизу каждого слайда.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[Этап 2 · Агентный цикл (спикер 1) — 0:45] Один промпт выдумывает, поэтому у нас агентный цикл: модель сама решает, какие данные нужны, мы вызываем инструменты параллельно и возвращаем ответы. Цикл написан на FastAPI, модель — DeepSeek V4.1 Flash через LLM Proxy. Сначала модель ходила по кругу и обрезала длинные планы — помогли лимит шагов и сжатие контекста. Сейчас план собирается за минуту, а доработать его можно прямо в чате. Передаю слово.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[Этап 3 · Проверка плана (спикер 2) — 0:45] Главное правило — план должен сходиться с реальностью, и проверяет это код, а не модель. Пятнадцать проверок: сроки, транспорт, километры для пешехода и велосипеда, погода и закат, режим работы, заправки, рейсы. Тестировщики нашли обед за сорок километров и бар, которого уже нет, — так появились проверки «еда рядом» и «работает ли заведение». Противоречие агент исправляет сам, а запросы не про Приморье отклоняются без модели.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[Этап 4 · Замеры трёх версий (спикер 2) — 0:40] Мы сравнили три версии на десяти запросах: семь поездок разным транспортом и три нецелевых. Качество выросло с 0,64 до единицы, токенов на запрос стало почти втрое меньше — с 88 до 32 тысяч. Все планы финальной версии проходят проверки, у базовой — только 43 процента.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[Что нашли замеры (спикер 2) — 0:20] А ещё замеры нашли три настоящих бага агента: обрезанный план, дни строкой и хождение по кругу. Все исправлены.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[Что получилось (спикер 2) — 0:30] В итоге: вы пишете поездку обычными словами и получаете план по дням с картой и адресами. У каждого места отметка, работает ли оно и как мы это проверили. Есть аккаунты, история поездок и идеи по анкете интересов.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[Решает ли задачу (спикер 2) — 0:30] Задачу это решает: план за минуту вместо десятка сайтов, и он сходится. Но честно о границах: остатки топлива и свободные номера никто не публикует, у многих кафе нет сайта — тогда мы пишем «уточните», а бесплатный хостинг после простоя отвечает около минуты.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(спикер 2) — 0:15] Нас семеро: два бэкенд-разработчика, два ML- и фронтенд-разработчика, тестировщик и два AI-агента — тимлид и инженер по отладке.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это решают сейчас (спикер 1) — 0:40] Мы сравнили, как эту задачу решают сейчас, по тому, на чём ломается реальная поездка: понимает ли сервис обычные слова, строит ли план целиком, учитывает ли погоду, режим работы и транспорт, знает ли, работает ли место, и даёт ли ссылки. Чат-боты понимают текст, но ничего не проверяют. Агрегаторы продают билеты, но поездку не собирают. Путеводители надёжны, но статичны.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[Этап 1 · Данные и инструменты (спикер 1) — 0:45] Агенту нужны факты, а не догадки. Мы подключили открытые источники: погоду Open-Meteo, маршруты OSRM, OpenStreetMap и Википедию. Трудности были реальные: Overpass отвечал по сорок секунд, а в OpenStreetMap остаются закрытые кафе. Поэтому храним снимок всех АЗС края и проверяем сайты заведений. Итог — десять инструментов и пять источников; если сервис падает, инструмент переходит на запасной.</a:t>
            </a:r>
          </a:p>
        </p:txBody>
      </p:sp>
    </p:spTree>
    <p:extLst>
      <p:ext uri="{BB962C8B-B14F-4D97-AF65-F5344CB8AC3E}">
        <p14:creationId xmlns:p14="http://schemas.microsoft.com/office/powerpoint/2010/main" val="15712836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(спикер 2) — 0:05] Спасибо! Готовы ответить на вопросы.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notesSlide" Target="../notesSlides/notesSlide1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7.png"/><Relationship Id="rId4" Type="http://schemas.openxmlformats.org/officeDocument/2006/relationships/image" Target="../media/image238.png"/><Relationship Id="rId5" Type="http://schemas.openxmlformats.org/officeDocument/2006/relationships/image" Target="../media/image239.png"/><Relationship Id="rId6" Type="http://schemas.openxmlformats.org/officeDocument/2006/relationships/image" Target="../media/image24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30.png"/><Relationship Id="rId5" Type="http://schemas.openxmlformats.org/officeDocument/2006/relationships/image" Target="../media/image1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7.png"/><Relationship Id="rId3" Type="http://schemas.openxmlformats.org/officeDocument/2006/relationships/image" Target="../media/image240.png"/><Relationship Id="rId4" Type="http://schemas.openxmlformats.org/officeDocument/2006/relationships/image" Target="../media/image23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7.png"/><Relationship Id="rId3" Type="http://schemas.openxmlformats.org/officeDocument/2006/relationships/image" Target="../media/image240.png"/><Relationship Id="rId4" Type="http://schemas.openxmlformats.org/officeDocument/2006/relationships/image" Target="../media/image23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10.xml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215C97-89F0-8726-9B74-20C91248E24D}"/>
              </a:ext>
            </a:extLst>
          </p:cNvPr>
          <p:cNvSpPr txBox="1"/>
          <p:nvPr/>
        </p:nvSpPr>
        <p:spPr>
          <a:xfrm>
            <a:off x="1366838" y="1281545"/>
            <a:ext cx="5935475" cy="1685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9400"/>
              </a:lnSpc>
              <a:defRPr sz="8800" b="1">
                <a:solidFill>
                  <a:schemeClr val="accent6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60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План</a:t>
            </a:r>
          </a:p>
          <a:p>
            <a:pPr>
              <a:lnSpc>
                <a:spcPct val="90000"/>
              </a:lnSpc>
            </a:pPr>
            <a:r>
              <a:rPr lang="ru-RU" sz="60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работы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09F034E-A4C6-7F11-4102-9F92DDB39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7454290"/>
            <a:ext cx="720000" cy="72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AC078AC-A74A-3B35-8F8A-70E431EF4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8314902"/>
            <a:ext cx="720000" cy="72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15FDF16-AD21-A3C1-C4E9-C3B81AE4A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9175513"/>
            <a:ext cx="720000" cy="72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77DA60-DE8D-9857-D423-7CEAD2E0826D}"/>
              </a:ext>
            </a:extLst>
          </p:cNvPr>
          <p:cNvSpPr txBox="1"/>
          <p:nvPr/>
        </p:nvSpPr>
        <p:spPr>
          <a:xfrm>
            <a:off x="2303463" y="6717075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1. Данные и инструменты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8B5016-6544-D4A3-E45C-B132B4619EFB}"/>
              </a:ext>
            </a:extLst>
          </p:cNvPr>
          <p:cNvSpPr txBox="1"/>
          <p:nvPr/>
        </p:nvSpPr>
        <p:spPr>
          <a:xfrm>
            <a:off x="2303463" y="7577687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2. Агентный цикл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1FF235-0E18-4781-8E7C-9B2C76D67069}"/>
              </a:ext>
            </a:extLst>
          </p:cNvPr>
          <p:cNvSpPr txBox="1"/>
          <p:nvPr/>
        </p:nvSpPr>
        <p:spPr>
          <a:xfrm>
            <a:off x="2303463" y="8438299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3. Проверка плана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1B1904-E5C5-2710-8EB2-A4AD469A4487}"/>
              </a:ext>
            </a:extLst>
          </p:cNvPr>
          <p:cNvSpPr txBox="1"/>
          <p:nvPr/>
        </p:nvSpPr>
        <p:spPr>
          <a:xfrm>
            <a:off x="2303463" y="9298911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4. Замеры и выбор модели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0049181-FE17-E34C-3DB1-22CDF715B6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6593678"/>
            <a:ext cx="720000" cy="720000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CEC6BBCA-AFFC-1FCD-904C-9C83D81E63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15</a:t>
            </a:fld>
            <a:endParaRPr lang="ru-RU" dirty="0"/>
          </a:p>
        </p:txBody>
      </p:sp>
      <p:pic>
        <p:nvPicPr>
          <p:cNvPr id="19" name="Picture 18" descr="map.png"/>
          <p:cNvPicPr>
            <a:picLocks noChangeAspect="1"/>
          </p:cNvPicPr>
          <p:nvPr/>
        </p:nvPicPr>
        <p:blipFill>
          <a:blip r:embed="rId4"/>
          <a:srcRect t="3235" b="3235"/>
          <a:stretch>
            <a:fillRect/>
          </a:stretch>
        </p:blipFill>
        <p:spPr>
          <a:xfrm>
            <a:off x="9179860" y="647700"/>
            <a:ext cx="10619440" cy="986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32702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077D72-322C-209A-7F94-FEFDD7490FB6}"/>
              </a:ext>
            </a:extLst>
          </p:cNvPr>
          <p:cNvSpPr txBox="1"/>
          <p:nvPr/>
        </p:nvSpPr>
        <p:spPr>
          <a:xfrm>
            <a:off x="1927057" y="2743200"/>
            <a:ext cx="16329135" cy="31089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4400" dirty="0">
                <a:latin typeface="T-Sans" pitchFamily="2" charset="0"/>
                <a:ea typeface="T-Sans" pitchFamily="2" charset="0"/>
              </a:rPr>
              <a:t>Цель: AI-гид, который по запросу обычными словами собирает план поездки по Приморью и сам проверяет его по реальным данным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64F6E4-1E0A-5B1B-7CE3-1F5A3E3B47CB}"/>
              </a:ext>
            </a:extLst>
          </p:cNvPr>
          <p:cNvSpPr txBox="1"/>
          <p:nvPr/>
        </p:nvSpPr>
        <p:spPr>
          <a:xfrm>
            <a:off x="1927057" y="6309360"/>
            <a:ext cx="16329135" cy="56630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</a:pPr>
            <a:r>
              <a:rPr lang="ru-RU" sz="3200" b="0" dirty="0">
                <a:latin typeface="T-Sans" pitchFamily="2" charset="0"/>
                <a:ea typeface="T-Sans" pitchFamily="2" charset="0"/>
              </a:rPr>
              <a:t>Цель проекта · следует из сравнения: аналоги не проверяют, сходится ли план с реальностью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8FDD68D4-E89C-E5C0-6980-1CA43554CC7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8891906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Решает ли задачу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100% планов в замерах проходят все проверки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Токенов в 2,7 раза меньше, чем у базовой версии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Закрытые кафе отсеиваются по их же сайтам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Аналоги план не проверяют — Амба проверяет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Остатки топлива и свободные номера никто не публикует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У многих кафе нет сайта — пишем «уточните»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Пригородные расписания — наш набор данных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Бесплатный хостинг засыпает: первый ответ ~1 мин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Что получилось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Ограничения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Да: план за минуту вместо десятка сайтов, и он сходится с реальностью. Но не всё можно проверить — ограничения показываем честно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Сайт</a:t>
            </a:r>
          </a:p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команды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откройте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Приложение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14</a:t>
            </a:r>
            <a:endParaRPr lang="ru-RU" dirty="0"/>
          </a:p>
        </p:txBody>
      </p:sp>
      <p:pic>
        <p:nvPicPr>
          <p:cNvPr id="18" name="qr-site" descr="qr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qr-app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У каждого места отметка: работает ли оно и как это проверено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Запрос обычными словами → план по дням, карта и адреса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Правки в чате, аккаунты, история поездок, идеи по анкете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Что получилось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AEDCB9-9D6F-24AD-3D8D-097A986ADED6}"/>
              </a:ext>
            </a:extLst>
          </p:cNvPr>
          <p:cNvSpPr txBox="1"/>
          <p:nvPr/>
        </p:nvSpPr>
        <p:spPr>
          <a:xfrm>
            <a:off x="611188" y="553052"/>
            <a:ext cx="8331644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4 из 4 · Замеры трёх версий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E245E-09EA-AAAA-6B30-351D8578A5C5}"/>
              </a:ext>
            </a:extLst>
          </p:cNvPr>
          <p:cNvSpPr txBox="1"/>
          <p:nvPr/>
        </p:nvSpPr>
        <p:spPr>
          <a:xfrm>
            <a:off x="1218177" y="3546609"/>
            <a:ext cx="4986866" cy="5424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6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Качество, от 0 до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BBC56A-ACA1-907F-9729-555C327E108C}"/>
              </a:ext>
            </a:extLst>
          </p:cNvPr>
          <p:cNvSpPr txBox="1"/>
          <p:nvPr/>
        </p:nvSpPr>
        <p:spPr>
          <a:xfrm>
            <a:off x="10646305" y="3546609"/>
            <a:ext cx="4986866" cy="5424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6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Токены на запрос, тыс.</a:t>
            </a:r>
          </a:p>
        </p:txBody>
      </p:sp>
      <p:graphicFrame>
        <p:nvGraphicFramePr>
          <p:cNvPr id="7" name="Диаграмма 6">
            <a:extLst>
              <a:ext uri="{FF2B5EF4-FFF2-40B4-BE49-F238E27FC236}">
                <a16:creationId xmlns:a16="http://schemas.microsoft.com/office/drawing/2014/main" id="{8C75560F-7DD9-E6A3-B2A5-53FEE28D19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43485178"/>
              </p:ext>
            </p:extLst>
          </p:nvPr>
        </p:nvGraphicFramePr>
        <p:xfrm>
          <a:off x="1291844" y="4297680"/>
          <a:ext cx="7870444" cy="5724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Диаграмма 7">
            <a:extLst>
              <a:ext uri="{FF2B5EF4-FFF2-40B4-BE49-F238E27FC236}">
                <a16:creationId xmlns:a16="http://schemas.microsoft.com/office/drawing/2014/main" id="{D54887D9-411C-8CDA-5ED4-8855038778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6138833"/>
              </p:ext>
            </p:extLst>
          </p:nvPr>
        </p:nvGraphicFramePr>
        <p:xfrm>
          <a:off x="10637014" y="4297680"/>
          <a:ext cx="7898466" cy="5724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8406900-16CE-B423-44DE-989E6C1C82B6}"/>
              </a:ext>
            </a:extLst>
          </p:cNvPr>
          <p:cNvSpPr txBox="1"/>
          <p:nvPr/>
        </p:nvSpPr>
        <p:spPr>
          <a:xfrm>
            <a:off x="15453359" y="9464040"/>
            <a:ext cx="3108960" cy="4247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планов сходятся, было 43%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C55670-EB9C-D749-E338-D69BABE28977}"/>
              </a:ext>
            </a:extLst>
          </p:cNvPr>
          <p:cNvSpPr txBox="1"/>
          <p:nvPr/>
        </p:nvSpPr>
        <p:spPr>
          <a:xfrm>
            <a:off x="15453359" y="8394998"/>
            <a:ext cx="3108960" cy="923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60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760F664-651D-E5D2-C2E6-ED47F4A80A3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59</a:t>
            </a:fld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0DD885-024F-30F0-93B0-A78FDF6359F3}"/>
              </a:ext>
            </a:extLst>
          </p:cNvPr>
          <p:cNvSpPr txBox="1"/>
          <p:nvPr/>
        </p:nvSpPr>
        <p:spPr>
          <a:xfrm>
            <a:off x="11968863" y="583003"/>
            <a:ext cx="7219250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запросов: 7 поездок разным транспортом и 3 нецелевых. Качество — верные тулы и доля пройденных проверок. Токены и цена — из ответа провайдера модели</a:t>
            </a:r>
          </a:p>
        </p:txBody>
      </p:sp>
    </p:spTree>
    <p:extLst>
      <p:ext uri="{BB962C8B-B14F-4D97-AF65-F5344CB8AC3E}">
        <p14:creationId xmlns:p14="http://schemas.microsoft.com/office/powerpoint/2010/main" val="4235095647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решают сейчас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5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2966444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031965">
                <a:tc>
                  <a:txBody>
                    <a:bodyPr/>
                    <a:lstStyle/>
                    <a:p>
                      <a:pPr algn="l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Что нужно для поездки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ChatGPT, Алиса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Туту, Островок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обычными словами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Весь план: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Погода, режим работы, расписания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Транспорт: АЗС, расстояния,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Работает ли кафе или музей сейчас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029076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3497579" y="540126"/>
            <a:ext cx="12801600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2125979" y="1674689"/>
            <a:ext cx="15544800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олилиния 44">
            <a:extLst>
              <a:ext uri="{FF2B5EF4-FFF2-40B4-BE49-F238E27FC236}">
                <a16:creationId xmlns:a16="http://schemas.microsoft.com/office/drawing/2014/main" id="{2987DB17-DED4-FB42-52A5-B2AF08D107DF}"/>
              </a:ext>
            </a:extLst>
          </p:cNvPr>
          <p:cNvSpPr/>
          <p:nvPr/>
        </p:nvSpPr>
        <p:spPr>
          <a:xfrm>
            <a:off x="532949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6" name="Полилиния 45">
            <a:extLst>
              <a:ext uri="{FF2B5EF4-FFF2-40B4-BE49-F238E27FC236}">
                <a16:creationId xmlns:a16="http://schemas.microsoft.com/office/drawing/2014/main" id="{440391FA-0535-988B-D289-2814F14C7435}"/>
              </a:ext>
            </a:extLst>
          </p:cNvPr>
          <p:cNvSpPr/>
          <p:nvPr/>
        </p:nvSpPr>
        <p:spPr>
          <a:xfrm>
            <a:off x="1474781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1ACEB23E-BB6B-0FAD-EF39-863F53DE2786}"/>
              </a:ext>
            </a:extLst>
          </p:cNvPr>
          <p:cNvSpPr/>
          <p:nvPr/>
        </p:nvSpPr>
        <p:spPr>
          <a:xfrm>
            <a:off x="611187" y="9364133"/>
            <a:ext cx="18576925" cy="3196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9" name="Полилиния 38">
            <a:extLst>
              <a:ext uri="{FF2B5EF4-FFF2-40B4-BE49-F238E27FC236}">
                <a16:creationId xmlns:a16="http://schemas.microsoft.com/office/drawing/2014/main" id="{C7C28DBF-A97D-59B9-F648-C0FD39A8CCD4}"/>
              </a:ext>
            </a:extLst>
          </p:cNvPr>
          <p:cNvSpPr/>
          <p:nvPr/>
        </p:nvSpPr>
        <p:spPr>
          <a:xfrm>
            <a:off x="10027100" y="2303463"/>
            <a:ext cx="4464050" cy="6221293"/>
          </a:xfrm>
          <a:custGeom>
            <a:avLst/>
            <a:gdLst>
              <a:gd name="connsiteX0" fmla="*/ 574702 w 4464050"/>
              <a:gd name="connsiteY0" fmla="*/ 0 h 6221293"/>
              <a:gd name="connsiteX1" fmla="*/ 3889348 w 4464050"/>
              <a:gd name="connsiteY1" fmla="*/ 0 h 6221293"/>
              <a:gd name="connsiteX2" fmla="*/ 4464050 w 4464050"/>
              <a:gd name="connsiteY2" fmla="*/ 574702 h 6221293"/>
              <a:gd name="connsiteX3" fmla="*/ 4464050 w 4464050"/>
              <a:gd name="connsiteY3" fmla="*/ 5365723 h 6221293"/>
              <a:gd name="connsiteX4" fmla="*/ 3889348 w 4464050"/>
              <a:gd name="connsiteY4" fmla="*/ 5940425 h 6221293"/>
              <a:gd name="connsiteX5" fmla="*/ 2595819 w 4464050"/>
              <a:gd name="connsiteY5" fmla="*/ 5940425 h 6221293"/>
              <a:gd name="connsiteX6" fmla="*/ 2371312 w 4464050"/>
              <a:gd name="connsiteY6" fmla="*/ 6164932 h 6221293"/>
              <a:gd name="connsiteX7" fmla="*/ 2099174 w 4464050"/>
              <a:gd name="connsiteY7" fmla="*/ 6164932 h 6221293"/>
              <a:gd name="connsiteX8" fmla="*/ 1874668 w 4464050"/>
              <a:gd name="connsiteY8" fmla="*/ 5940425 h 6221293"/>
              <a:gd name="connsiteX9" fmla="*/ 574702 w 4464050"/>
              <a:gd name="connsiteY9" fmla="*/ 5940425 h 6221293"/>
              <a:gd name="connsiteX10" fmla="*/ 0 w 4464050"/>
              <a:gd name="connsiteY10" fmla="*/ 5365723 h 6221293"/>
              <a:gd name="connsiteX11" fmla="*/ 0 w 4464050"/>
              <a:gd name="connsiteY11" fmla="*/ 574702 h 6221293"/>
              <a:gd name="connsiteX12" fmla="*/ 574702 w 446405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50" h="6221293">
                <a:moveTo>
                  <a:pt x="574702" y="0"/>
                </a:moveTo>
                <a:lnTo>
                  <a:pt x="3889348" y="0"/>
                </a:lnTo>
                <a:cubicBezTo>
                  <a:pt x="4206747" y="0"/>
                  <a:pt x="4464050" y="257303"/>
                  <a:pt x="4464050" y="574702"/>
                </a:cubicBezTo>
                <a:lnTo>
                  <a:pt x="4464050" y="5365723"/>
                </a:lnTo>
                <a:cubicBezTo>
                  <a:pt x="4464050" y="5683122"/>
                  <a:pt x="4206747" y="5940425"/>
                  <a:pt x="3889348" y="5940425"/>
                </a:cubicBezTo>
                <a:lnTo>
                  <a:pt x="2595819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4" y="6164932"/>
                </a:cubicBezTo>
                <a:lnTo>
                  <a:pt x="1874668" y="5940425"/>
                </a:lnTo>
                <a:lnTo>
                  <a:pt x="574702" y="5940425"/>
                </a:lnTo>
                <a:cubicBezTo>
                  <a:pt x="257303" y="5940425"/>
                  <a:pt x="0" y="5683122"/>
                  <a:pt x="0" y="5365723"/>
                </a:cubicBezTo>
                <a:lnTo>
                  <a:pt x="0" y="574702"/>
                </a:lnTo>
                <a:cubicBezTo>
                  <a:pt x="0" y="257303"/>
                  <a:pt x="257303" y="0"/>
                  <a:pt x="574702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2" name="Полилиния 41">
            <a:extLst>
              <a:ext uri="{FF2B5EF4-FFF2-40B4-BE49-F238E27FC236}">
                <a16:creationId xmlns:a16="http://schemas.microsoft.com/office/drawing/2014/main" id="{545A8436-4E29-2AFA-FC03-5F94F5B326FE}"/>
              </a:ext>
            </a:extLst>
          </p:cNvPr>
          <p:cNvSpPr/>
          <p:nvPr/>
        </p:nvSpPr>
        <p:spPr>
          <a:xfrm>
            <a:off x="611188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8623AB4-8E3D-E82B-6143-3FAA60351234}"/>
              </a:ext>
            </a:extLst>
          </p:cNvPr>
          <p:cNvSpPr/>
          <p:nvPr/>
        </p:nvSpPr>
        <p:spPr>
          <a:xfrm>
            <a:off x="611187" y="9364133"/>
            <a:ext cx="2229982" cy="31961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B9E89-0526-AB74-4D60-83685047A17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1 из 4 · Данные и инструменты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75B44792-AA84-EE63-D2A4-D74877CDDB2C}"/>
              </a:ext>
            </a:extLst>
          </p:cNvPr>
          <p:cNvSpPr/>
          <p:nvPr/>
        </p:nvSpPr>
        <p:spPr>
          <a:xfrm>
            <a:off x="2340200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01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7EFB55FF-F908-1B10-EC89-CEB557E85F9E}"/>
              </a:ext>
            </a:extLst>
          </p:cNvPr>
          <p:cNvSpPr/>
          <p:nvPr/>
        </p:nvSpPr>
        <p:spPr>
          <a:xfrm>
            <a:off x="7097257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02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02D96C92-52E0-5065-9876-EA166335105F}"/>
              </a:ext>
            </a:extLst>
          </p:cNvPr>
          <p:cNvSpPr/>
          <p:nvPr/>
        </p:nvSpPr>
        <p:spPr>
          <a:xfrm>
            <a:off x="11767228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03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025E87AC-01D5-DB81-11CC-239C3A76BCF1}"/>
              </a:ext>
            </a:extLst>
          </p:cNvPr>
          <p:cNvSpPr/>
          <p:nvPr/>
        </p:nvSpPr>
        <p:spPr>
          <a:xfrm>
            <a:off x="16448085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04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1B81875-E7E8-74D5-524F-24C56DC6C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17" y="2666471"/>
            <a:ext cx="660929" cy="66092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2984C6-5AB7-9665-F56F-182726768DD0}"/>
              </a:ext>
            </a:extLst>
          </p:cNvPr>
          <p:cNvSpPr txBox="1"/>
          <p:nvPr/>
        </p:nvSpPr>
        <p:spPr>
          <a:xfrm>
            <a:off x="1028286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Агенту нужны факты, а не догадки: погода, дороги, кафе, заправки, расписания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1386CE-F566-0E8F-DE15-8D88956CC9FB}"/>
              </a:ext>
            </a:extLst>
          </p:cNvPr>
          <p:cNvSpPr txBox="1"/>
          <p:nvPr/>
        </p:nvSpPr>
        <p:spPr>
          <a:xfrm>
            <a:off x="1028285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Что и зачем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C54A8F4-0ABE-0C6D-910F-73C55CBEAD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05901" y="2666471"/>
            <a:ext cx="660929" cy="66092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C10FF2E-3B0D-CAC4-A2CD-3C360EAE3EE4}"/>
              </a:ext>
            </a:extLst>
          </p:cNvPr>
          <p:cNvSpPr txBox="1"/>
          <p:nvPr/>
        </p:nvSpPr>
        <p:spPr>
          <a:xfrm>
            <a:off x="5739770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Open-Meteo, OSRM, OpenStreetMap, Википедия — открытые и бесплатные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8A5BA2-686C-DAD4-5A18-7D076C8CF8D0}"/>
              </a:ext>
            </a:extLst>
          </p:cNvPr>
          <p:cNvSpPr txBox="1"/>
          <p:nvPr/>
        </p:nvSpPr>
        <p:spPr>
          <a:xfrm>
            <a:off x="5739769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Инструменты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94FA4D20-0C5B-72BA-71E9-F4744FE591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48382" y="2666471"/>
            <a:ext cx="660929" cy="66092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E7E0ACB-153A-B8B7-6A84-4461D940FBE9}"/>
              </a:ext>
            </a:extLst>
          </p:cNvPr>
          <p:cNvSpPr txBox="1"/>
          <p:nvPr/>
        </p:nvSpPr>
        <p:spPr>
          <a:xfrm>
            <a:off x="10482251" y="4848903"/>
            <a:ext cx="3690663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Overpass отвечал 40 секунд, а OSM помнит закрытые кафе. Решение: снимок всех АЗС и проверка сайтов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C0BE87-7AC2-F0B5-E095-74203561A2B8}"/>
              </a:ext>
            </a:extLst>
          </p:cNvPr>
          <p:cNvSpPr txBox="1"/>
          <p:nvPr/>
        </p:nvSpPr>
        <p:spPr>
          <a:xfrm>
            <a:off x="1048225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Трудность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4F23A5A-E29C-F299-DD7C-66DEB86D7C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113372" y="2666471"/>
            <a:ext cx="660929" cy="66092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D29CCF7-78AA-0519-7EE0-C26CAF07F44D}"/>
              </a:ext>
            </a:extLst>
          </p:cNvPr>
          <p:cNvSpPr txBox="1"/>
          <p:nvPr/>
        </p:nvSpPr>
        <p:spPr>
          <a:xfrm>
            <a:off x="15147241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10 тулов и 5 источников. Сервис упал — тул берёт запасной, а не падает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5F5DB-09C9-A495-F419-C0F5D47A7689}"/>
              </a:ext>
            </a:extLst>
          </p:cNvPr>
          <p:cNvSpPr txBox="1"/>
          <p:nvPr/>
        </p:nvSpPr>
        <p:spPr>
          <a:xfrm>
            <a:off x="1514724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98B93FAD-5070-55C6-E49D-0E2E4F58E91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66458037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035040"/>
            <a:ext cx="10023773" cy="3291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" name="Полилиния 44">
            <a:extLst>
              <a:ext uri="{FF2B5EF4-FFF2-40B4-BE49-F238E27FC236}">
                <a16:creationId xmlns:a16="http://schemas.microsoft.com/office/drawing/2014/main" id="{2987DB17-DED4-FB42-52A5-B2AF08D107DF}"/>
              </a:ext>
            </a:extLst>
          </p:cNvPr>
          <p:cNvSpPr/>
          <p:nvPr/>
        </p:nvSpPr>
        <p:spPr>
          <a:xfrm>
            <a:off x="532949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6" name="Полилиния 45">
            <a:extLst>
              <a:ext uri="{FF2B5EF4-FFF2-40B4-BE49-F238E27FC236}">
                <a16:creationId xmlns:a16="http://schemas.microsoft.com/office/drawing/2014/main" id="{440391FA-0535-988B-D289-2814F14C7435}"/>
              </a:ext>
            </a:extLst>
          </p:cNvPr>
          <p:cNvSpPr/>
          <p:nvPr/>
        </p:nvSpPr>
        <p:spPr>
          <a:xfrm>
            <a:off x="1474781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1ACEB23E-BB6B-0FAD-EF39-863F53DE2786}"/>
              </a:ext>
            </a:extLst>
          </p:cNvPr>
          <p:cNvSpPr/>
          <p:nvPr/>
        </p:nvSpPr>
        <p:spPr>
          <a:xfrm>
            <a:off x="611187" y="9364133"/>
            <a:ext cx="18576925" cy="3196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9" name="Полилиния 38">
            <a:extLst>
              <a:ext uri="{FF2B5EF4-FFF2-40B4-BE49-F238E27FC236}">
                <a16:creationId xmlns:a16="http://schemas.microsoft.com/office/drawing/2014/main" id="{C7C28DBF-A97D-59B9-F648-C0FD39A8CCD4}"/>
              </a:ext>
            </a:extLst>
          </p:cNvPr>
          <p:cNvSpPr/>
          <p:nvPr/>
        </p:nvSpPr>
        <p:spPr>
          <a:xfrm>
            <a:off x="10027100" y="2303463"/>
            <a:ext cx="4464050" cy="6221293"/>
          </a:xfrm>
          <a:custGeom>
            <a:avLst/>
            <a:gdLst>
              <a:gd name="connsiteX0" fmla="*/ 574702 w 4464050"/>
              <a:gd name="connsiteY0" fmla="*/ 0 h 6221293"/>
              <a:gd name="connsiteX1" fmla="*/ 3889348 w 4464050"/>
              <a:gd name="connsiteY1" fmla="*/ 0 h 6221293"/>
              <a:gd name="connsiteX2" fmla="*/ 4464050 w 4464050"/>
              <a:gd name="connsiteY2" fmla="*/ 574702 h 6221293"/>
              <a:gd name="connsiteX3" fmla="*/ 4464050 w 4464050"/>
              <a:gd name="connsiteY3" fmla="*/ 5365723 h 6221293"/>
              <a:gd name="connsiteX4" fmla="*/ 3889348 w 4464050"/>
              <a:gd name="connsiteY4" fmla="*/ 5940425 h 6221293"/>
              <a:gd name="connsiteX5" fmla="*/ 2595819 w 4464050"/>
              <a:gd name="connsiteY5" fmla="*/ 5940425 h 6221293"/>
              <a:gd name="connsiteX6" fmla="*/ 2371312 w 4464050"/>
              <a:gd name="connsiteY6" fmla="*/ 6164932 h 6221293"/>
              <a:gd name="connsiteX7" fmla="*/ 2099174 w 4464050"/>
              <a:gd name="connsiteY7" fmla="*/ 6164932 h 6221293"/>
              <a:gd name="connsiteX8" fmla="*/ 1874668 w 4464050"/>
              <a:gd name="connsiteY8" fmla="*/ 5940425 h 6221293"/>
              <a:gd name="connsiteX9" fmla="*/ 574702 w 4464050"/>
              <a:gd name="connsiteY9" fmla="*/ 5940425 h 6221293"/>
              <a:gd name="connsiteX10" fmla="*/ 0 w 4464050"/>
              <a:gd name="connsiteY10" fmla="*/ 5365723 h 6221293"/>
              <a:gd name="connsiteX11" fmla="*/ 0 w 4464050"/>
              <a:gd name="connsiteY11" fmla="*/ 574702 h 6221293"/>
              <a:gd name="connsiteX12" fmla="*/ 574702 w 446405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50" h="6221293">
                <a:moveTo>
                  <a:pt x="574702" y="0"/>
                </a:moveTo>
                <a:lnTo>
                  <a:pt x="3889348" y="0"/>
                </a:lnTo>
                <a:cubicBezTo>
                  <a:pt x="4206747" y="0"/>
                  <a:pt x="4464050" y="257303"/>
                  <a:pt x="4464050" y="574702"/>
                </a:cubicBezTo>
                <a:lnTo>
                  <a:pt x="4464050" y="5365723"/>
                </a:lnTo>
                <a:cubicBezTo>
                  <a:pt x="4464050" y="5683122"/>
                  <a:pt x="4206747" y="5940425"/>
                  <a:pt x="3889348" y="5940425"/>
                </a:cubicBezTo>
                <a:lnTo>
                  <a:pt x="2595819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4" y="6164932"/>
                </a:cubicBezTo>
                <a:lnTo>
                  <a:pt x="1874668" y="5940425"/>
                </a:lnTo>
                <a:lnTo>
                  <a:pt x="574702" y="5940425"/>
                </a:lnTo>
                <a:cubicBezTo>
                  <a:pt x="257303" y="5940425"/>
                  <a:pt x="0" y="5683122"/>
                  <a:pt x="0" y="5365723"/>
                </a:cubicBezTo>
                <a:lnTo>
                  <a:pt x="0" y="574702"/>
                </a:lnTo>
                <a:cubicBezTo>
                  <a:pt x="0" y="257303"/>
                  <a:pt x="257303" y="0"/>
                  <a:pt x="574702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2" name="Полилиния 41">
            <a:extLst>
              <a:ext uri="{FF2B5EF4-FFF2-40B4-BE49-F238E27FC236}">
                <a16:creationId xmlns:a16="http://schemas.microsoft.com/office/drawing/2014/main" id="{545A8436-4E29-2AFA-FC03-5F94F5B326FE}"/>
              </a:ext>
            </a:extLst>
          </p:cNvPr>
          <p:cNvSpPr/>
          <p:nvPr/>
        </p:nvSpPr>
        <p:spPr>
          <a:xfrm>
            <a:off x="611188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8623AB4-8E3D-E82B-6143-3FAA60351234}"/>
              </a:ext>
            </a:extLst>
          </p:cNvPr>
          <p:cNvSpPr/>
          <p:nvPr/>
        </p:nvSpPr>
        <p:spPr>
          <a:xfrm>
            <a:off x="611187" y="9364133"/>
            <a:ext cx="6987039" cy="31961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B9E89-0526-AB74-4D60-83685047A17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2 из 4 · Агентный цикл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75B44792-AA84-EE63-D2A4-D74877CDDB2C}"/>
              </a:ext>
            </a:extLst>
          </p:cNvPr>
          <p:cNvSpPr/>
          <p:nvPr/>
        </p:nvSpPr>
        <p:spPr>
          <a:xfrm>
            <a:off x="2340200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01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7EFB55FF-F908-1B10-EC89-CEB557E85F9E}"/>
              </a:ext>
            </a:extLst>
          </p:cNvPr>
          <p:cNvSpPr/>
          <p:nvPr/>
        </p:nvSpPr>
        <p:spPr>
          <a:xfrm>
            <a:off x="7097257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02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02D96C92-52E0-5065-9876-EA166335105F}"/>
              </a:ext>
            </a:extLst>
          </p:cNvPr>
          <p:cNvSpPr/>
          <p:nvPr/>
        </p:nvSpPr>
        <p:spPr>
          <a:xfrm>
            <a:off x="11767228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03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025E87AC-01D5-DB81-11CC-239C3A76BCF1}"/>
              </a:ext>
            </a:extLst>
          </p:cNvPr>
          <p:cNvSpPr/>
          <p:nvPr/>
        </p:nvSpPr>
        <p:spPr>
          <a:xfrm>
            <a:off x="16448085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04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1B81875-E7E8-74D5-524F-24C56DC6C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17" y="2666471"/>
            <a:ext cx="660929" cy="66092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2984C6-5AB7-9665-F56F-182726768DD0}"/>
              </a:ext>
            </a:extLst>
          </p:cNvPr>
          <p:cNvSpPr txBox="1"/>
          <p:nvPr/>
        </p:nvSpPr>
        <p:spPr>
          <a:xfrm>
            <a:off x="1028286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Один промпт выдумывает. Агент сам решает, какие данные ему нужны, и зовёт тулы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1386CE-F566-0E8F-DE15-8D88956CC9FB}"/>
              </a:ext>
            </a:extLst>
          </p:cNvPr>
          <p:cNvSpPr txBox="1"/>
          <p:nvPr/>
        </p:nvSpPr>
        <p:spPr>
          <a:xfrm>
            <a:off x="1028285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Что и зачем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C54A8F4-0ABE-0C6D-910F-73C55CBEAD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05901" y="2666471"/>
            <a:ext cx="660929" cy="66092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C10FF2E-3B0D-CAC4-A2CD-3C360EAE3EE4}"/>
              </a:ext>
            </a:extLst>
          </p:cNvPr>
          <p:cNvSpPr txBox="1"/>
          <p:nvPr/>
        </p:nvSpPr>
        <p:spPr>
          <a:xfrm>
            <a:off x="5739770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Свой цикл на FastAPI, tool calling, DeepSeek V4.1 Flash через LLM Proxy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8A5BA2-686C-DAD4-5A18-7D076C8CF8D0}"/>
              </a:ext>
            </a:extLst>
          </p:cNvPr>
          <p:cNvSpPr txBox="1"/>
          <p:nvPr/>
        </p:nvSpPr>
        <p:spPr>
          <a:xfrm>
            <a:off x="5739769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Инструменты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94FA4D20-0C5B-72BA-71E9-F4744FE591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48382" y="2666471"/>
            <a:ext cx="660929" cy="66092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E7E0ACB-153A-B8B7-6A84-4461D940FBE9}"/>
              </a:ext>
            </a:extLst>
          </p:cNvPr>
          <p:cNvSpPr txBox="1"/>
          <p:nvPr/>
        </p:nvSpPr>
        <p:spPr>
          <a:xfrm>
            <a:off x="10482251" y="4848903"/>
            <a:ext cx="3690663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Модель ходила по кругу и обрезала длинный план. Решение: лимит шагов и сжатие контекста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C0BE87-7AC2-F0B5-E095-74203561A2B8}"/>
              </a:ext>
            </a:extLst>
          </p:cNvPr>
          <p:cNvSpPr txBox="1"/>
          <p:nvPr/>
        </p:nvSpPr>
        <p:spPr>
          <a:xfrm>
            <a:off x="1048225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Трудность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4F23A5A-E29C-F299-DD7C-66DEB86D7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113372" y="2666471"/>
            <a:ext cx="660929" cy="66092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D29CCF7-78AA-0519-7EE0-C26CAF07F44D}"/>
              </a:ext>
            </a:extLst>
          </p:cNvPr>
          <p:cNvSpPr txBox="1"/>
          <p:nvPr/>
        </p:nvSpPr>
        <p:spPr>
          <a:xfrm>
            <a:off x="15147241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1–2 уточнения, тулы параллельно, план за минуту, правки прямо в чате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5F5DB-09C9-A495-F419-C0F5D47A7689}"/>
              </a:ext>
            </a:extLst>
          </p:cNvPr>
          <p:cNvSpPr txBox="1"/>
          <p:nvPr/>
        </p:nvSpPr>
        <p:spPr>
          <a:xfrm>
            <a:off x="1514724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98B93FAD-5070-55C6-E49D-0E2E4F58E91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68</a:t>
            </a:fld>
            <a:endParaRPr lang="ru-RU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" name="Полилиния 44">
            <a:extLst>
              <a:ext uri="{FF2B5EF4-FFF2-40B4-BE49-F238E27FC236}">
                <a16:creationId xmlns:a16="http://schemas.microsoft.com/office/drawing/2014/main" id="{2987DB17-DED4-FB42-52A5-B2AF08D107DF}"/>
              </a:ext>
            </a:extLst>
          </p:cNvPr>
          <p:cNvSpPr/>
          <p:nvPr/>
        </p:nvSpPr>
        <p:spPr>
          <a:xfrm>
            <a:off x="532949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6" name="Полилиния 45">
            <a:extLst>
              <a:ext uri="{FF2B5EF4-FFF2-40B4-BE49-F238E27FC236}">
                <a16:creationId xmlns:a16="http://schemas.microsoft.com/office/drawing/2014/main" id="{440391FA-0535-988B-D289-2814F14C7435}"/>
              </a:ext>
            </a:extLst>
          </p:cNvPr>
          <p:cNvSpPr/>
          <p:nvPr/>
        </p:nvSpPr>
        <p:spPr>
          <a:xfrm>
            <a:off x="1474781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1ACEB23E-BB6B-0FAD-EF39-863F53DE2786}"/>
              </a:ext>
            </a:extLst>
          </p:cNvPr>
          <p:cNvSpPr/>
          <p:nvPr/>
        </p:nvSpPr>
        <p:spPr>
          <a:xfrm>
            <a:off x="611187" y="9364133"/>
            <a:ext cx="18576925" cy="3196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9" name="Полилиния 38">
            <a:extLst>
              <a:ext uri="{FF2B5EF4-FFF2-40B4-BE49-F238E27FC236}">
                <a16:creationId xmlns:a16="http://schemas.microsoft.com/office/drawing/2014/main" id="{C7C28DBF-A97D-59B9-F648-C0FD39A8CCD4}"/>
              </a:ext>
            </a:extLst>
          </p:cNvPr>
          <p:cNvSpPr/>
          <p:nvPr/>
        </p:nvSpPr>
        <p:spPr>
          <a:xfrm>
            <a:off x="10027100" y="2303463"/>
            <a:ext cx="4464050" cy="6221293"/>
          </a:xfrm>
          <a:custGeom>
            <a:avLst/>
            <a:gdLst>
              <a:gd name="connsiteX0" fmla="*/ 574702 w 4464050"/>
              <a:gd name="connsiteY0" fmla="*/ 0 h 6221293"/>
              <a:gd name="connsiteX1" fmla="*/ 3889348 w 4464050"/>
              <a:gd name="connsiteY1" fmla="*/ 0 h 6221293"/>
              <a:gd name="connsiteX2" fmla="*/ 4464050 w 4464050"/>
              <a:gd name="connsiteY2" fmla="*/ 574702 h 6221293"/>
              <a:gd name="connsiteX3" fmla="*/ 4464050 w 4464050"/>
              <a:gd name="connsiteY3" fmla="*/ 5365723 h 6221293"/>
              <a:gd name="connsiteX4" fmla="*/ 3889348 w 4464050"/>
              <a:gd name="connsiteY4" fmla="*/ 5940425 h 6221293"/>
              <a:gd name="connsiteX5" fmla="*/ 2595819 w 4464050"/>
              <a:gd name="connsiteY5" fmla="*/ 5940425 h 6221293"/>
              <a:gd name="connsiteX6" fmla="*/ 2371312 w 4464050"/>
              <a:gd name="connsiteY6" fmla="*/ 6164932 h 6221293"/>
              <a:gd name="connsiteX7" fmla="*/ 2099174 w 4464050"/>
              <a:gd name="connsiteY7" fmla="*/ 6164932 h 6221293"/>
              <a:gd name="connsiteX8" fmla="*/ 1874668 w 4464050"/>
              <a:gd name="connsiteY8" fmla="*/ 5940425 h 6221293"/>
              <a:gd name="connsiteX9" fmla="*/ 574702 w 4464050"/>
              <a:gd name="connsiteY9" fmla="*/ 5940425 h 6221293"/>
              <a:gd name="connsiteX10" fmla="*/ 0 w 4464050"/>
              <a:gd name="connsiteY10" fmla="*/ 5365723 h 6221293"/>
              <a:gd name="connsiteX11" fmla="*/ 0 w 4464050"/>
              <a:gd name="connsiteY11" fmla="*/ 574702 h 6221293"/>
              <a:gd name="connsiteX12" fmla="*/ 574702 w 446405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50" h="6221293">
                <a:moveTo>
                  <a:pt x="574702" y="0"/>
                </a:moveTo>
                <a:lnTo>
                  <a:pt x="3889348" y="0"/>
                </a:lnTo>
                <a:cubicBezTo>
                  <a:pt x="4206747" y="0"/>
                  <a:pt x="4464050" y="257303"/>
                  <a:pt x="4464050" y="574702"/>
                </a:cubicBezTo>
                <a:lnTo>
                  <a:pt x="4464050" y="5365723"/>
                </a:lnTo>
                <a:cubicBezTo>
                  <a:pt x="4464050" y="5683122"/>
                  <a:pt x="4206747" y="5940425"/>
                  <a:pt x="3889348" y="5940425"/>
                </a:cubicBezTo>
                <a:lnTo>
                  <a:pt x="2595819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4" y="6164932"/>
                </a:cubicBezTo>
                <a:lnTo>
                  <a:pt x="1874668" y="5940425"/>
                </a:lnTo>
                <a:lnTo>
                  <a:pt x="574702" y="5940425"/>
                </a:lnTo>
                <a:cubicBezTo>
                  <a:pt x="257303" y="5940425"/>
                  <a:pt x="0" y="5683122"/>
                  <a:pt x="0" y="5365723"/>
                </a:cubicBezTo>
                <a:lnTo>
                  <a:pt x="0" y="574702"/>
                </a:lnTo>
                <a:cubicBezTo>
                  <a:pt x="0" y="257303"/>
                  <a:pt x="257303" y="0"/>
                  <a:pt x="574702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2" name="Полилиния 41">
            <a:extLst>
              <a:ext uri="{FF2B5EF4-FFF2-40B4-BE49-F238E27FC236}">
                <a16:creationId xmlns:a16="http://schemas.microsoft.com/office/drawing/2014/main" id="{545A8436-4E29-2AFA-FC03-5F94F5B326FE}"/>
              </a:ext>
            </a:extLst>
          </p:cNvPr>
          <p:cNvSpPr/>
          <p:nvPr/>
        </p:nvSpPr>
        <p:spPr>
          <a:xfrm>
            <a:off x="611188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8623AB4-8E3D-E82B-6143-3FAA60351234}"/>
              </a:ext>
            </a:extLst>
          </p:cNvPr>
          <p:cNvSpPr/>
          <p:nvPr/>
        </p:nvSpPr>
        <p:spPr>
          <a:xfrm>
            <a:off x="611187" y="9364133"/>
            <a:ext cx="11657010" cy="31961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B9E89-0526-AB74-4D60-83685047A17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3 из 4 · Проверка плана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75B44792-AA84-EE63-D2A4-D74877CDDB2C}"/>
              </a:ext>
            </a:extLst>
          </p:cNvPr>
          <p:cNvSpPr/>
          <p:nvPr/>
        </p:nvSpPr>
        <p:spPr>
          <a:xfrm>
            <a:off x="2340200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01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7EFB55FF-F908-1B10-EC89-CEB557E85F9E}"/>
              </a:ext>
            </a:extLst>
          </p:cNvPr>
          <p:cNvSpPr/>
          <p:nvPr/>
        </p:nvSpPr>
        <p:spPr>
          <a:xfrm>
            <a:off x="7097257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02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02D96C92-52E0-5065-9876-EA166335105F}"/>
              </a:ext>
            </a:extLst>
          </p:cNvPr>
          <p:cNvSpPr/>
          <p:nvPr/>
        </p:nvSpPr>
        <p:spPr>
          <a:xfrm>
            <a:off x="11767228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03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025E87AC-01D5-DB81-11CC-239C3A76BCF1}"/>
              </a:ext>
            </a:extLst>
          </p:cNvPr>
          <p:cNvSpPr/>
          <p:nvPr/>
        </p:nvSpPr>
        <p:spPr>
          <a:xfrm>
            <a:off x="16448085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04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1B81875-E7E8-74D5-524F-24C56DC6C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17" y="2666471"/>
            <a:ext cx="660929" cy="66092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2984C6-5AB7-9665-F56F-182726768DD0}"/>
              </a:ext>
            </a:extLst>
          </p:cNvPr>
          <p:cNvSpPr txBox="1"/>
          <p:nvPr/>
        </p:nvSpPr>
        <p:spPr>
          <a:xfrm>
            <a:off x="1028286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 должен сходиться с реальностью. Проверяет код, а не модель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1386CE-F566-0E8F-DE15-8D88956CC9FB}"/>
              </a:ext>
            </a:extLst>
          </p:cNvPr>
          <p:cNvSpPr txBox="1"/>
          <p:nvPr/>
        </p:nvSpPr>
        <p:spPr>
          <a:xfrm>
            <a:off x="1028285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Что и зачем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C54A8F4-0ABE-0C6D-910F-73C55CBEAD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05901" y="2666471"/>
            <a:ext cx="660929" cy="66092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C10FF2E-3B0D-CAC4-A2CD-3C360EAE3EE4}"/>
              </a:ext>
            </a:extLst>
          </p:cNvPr>
          <p:cNvSpPr txBox="1"/>
          <p:nvPr/>
        </p:nvSpPr>
        <p:spPr>
          <a:xfrm>
            <a:off x="5739770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15 проверок: сроки, транспорт, километры, погода, режим работы, АЗС, рейсы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8A5BA2-686C-DAD4-5A18-7D076C8CF8D0}"/>
              </a:ext>
            </a:extLst>
          </p:cNvPr>
          <p:cNvSpPr txBox="1"/>
          <p:nvPr/>
        </p:nvSpPr>
        <p:spPr>
          <a:xfrm>
            <a:off x="5739769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Инструменты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94FA4D20-0C5B-72BA-71E9-F4744FE591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48382" y="2666471"/>
            <a:ext cx="660929" cy="66092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E7E0ACB-153A-B8B7-6A84-4461D940FBE9}"/>
              </a:ext>
            </a:extLst>
          </p:cNvPr>
          <p:cNvSpPr txBox="1"/>
          <p:nvPr/>
        </p:nvSpPr>
        <p:spPr>
          <a:xfrm>
            <a:off x="10482251" y="4848903"/>
            <a:ext cx="3690663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Обед за 40 км и закрытый бар. Решение: «еда рядом» и проверка сайтов заведений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C0BE87-7AC2-F0B5-E095-74203561A2B8}"/>
              </a:ext>
            </a:extLst>
          </p:cNvPr>
          <p:cNvSpPr txBox="1"/>
          <p:nvPr/>
        </p:nvSpPr>
        <p:spPr>
          <a:xfrm>
            <a:off x="1048225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Трудность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4F23A5A-E29C-F299-DD7C-66DEB86D7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113372" y="2666471"/>
            <a:ext cx="660929" cy="66092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D29CCF7-78AA-0519-7EE0-C26CAF07F44D}"/>
              </a:ext>
            </a:extLst>
          </p:cNvPr>
          <p:cNvSpPr txBox="1"/>
          <p:nvPr/>
        </p:nvSpPr>
        <p:spPr>
          <a:xfrm>
            <a:off x="15147241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Противоречие — агент исправляет сам. Не про Приморье — отказ без модели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5F5DB-09C9-A495-F419-C0F5D47A7689}"/>
              </a:ext>
            </a:extLst>
          </p:cNvPr>
          <p:cNvSpPr txBox="1"/>
          <p:nvPr/>
        </p:nvSpPr>
        <p:spPr>
          <a:xfrm>
            <a:off x="1514724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98B93FAD-5070-55C6-E49D-0E2E4F58E91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68</a:t>
            </a:fld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