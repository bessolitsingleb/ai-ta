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7.xml" ContentType="application/vnd.openxmlformats-officedocument.presentationml.slide+xml"/>
  <Override PartName="/ppt/slides/slide8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85"/>
  </p:notesMasterIdLst>
  <p:handoutMasterIdLst>
    <p:handoutMasterId r:id="rId86"/>
  </p:handoutMasterIdLst>
  <p:sldIdLst>
    <p:sldId id="2147377428" r:id="rId14"/>
    <p:sldId id="2147377217" r:id="rId25"/>
    <p:sldId id="2147377171" r:id="rId65"/>
    <p:sldId id="808" r:id="rId54"/>
    <p:sldId id="771" r:id="rId34"/>
    <p:sldId id="2147377169" r:id="rId64"/>
    <p:sldId id="2147377261" r:id="rId27"/>
    <p:sldId id="774" r:id="rId33"/>
    <p:sldId id="761" r:id="rId22"/>
    <p:sldId id="2147377174" r:id="rId68"/>
    <p:sldId id="778" r:id="rId36"/>
    <p:sldId id="2147377427" r:id="rId83"/>
  </p:sldIdLst>
  <p:sldSz cx="19799300" cy="11160125"/>
  <p:notesSz cx="6858000" cy="9144000"/>
  <p:embeddedFontLst>
    <p:embeddedFont>
      <p:font typeface="T-Sans" pitchFamily="2" charset="0"/>
      <p:regular r:id="rId87"/>
      <p:bold r:id="rId88"/>
    </p:embeddedFont>
    <p:embeddedFont>
      <p:font typeface="T-Sans Medium" pitchFamily="2" charset="0"/>
      <p:regular r:id="rId89"/>
    </p:embeddedFont>
    <p:embeddedFont>
      <p:font typeface="Tinkoff Sans" panose="02000506050000020004" pitchFamily="2" charset="0"/>
      <p:regular r:id="rId90"/>
      <p:bold r:id="rId91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521415D9-36F7-43E2-AB2F-B90AF26B5E84}">
      <p14:sectionLst xmlns:p14="http://schemas.microsoft.com/office/powerpoint/2010/main">
        <p14:section name="ВАЖНО!!! Как пользовтаься шаблоном?" id="{0E16339E-237F-0148-B0B0-4DDEDCDA4132}">
          <p14:sldIdLst>
            <p14:sldId id="2147377200"/>
            <p14:sldId id="2147377212"/>
            <p14:sldId id="2147377201"/>
            <p14:sldId id="2147377202"/>
            <p14:sldId id="2147377262"/>
            <p14:sldId id="2147377213"/>
            <p14:sldId id="2147377214"/>
            <p14:sldId id="2147377408"/>
          </p14:sldIdLst>
        </p14:section>
        <p14:section name="Библиотека 2Dи 3D иллюстраций/Иконок" id="{51DFFC75-6FF6-AC47-AAB9-9EBF00776929}">
          <p14:sldIdLst>
            <p14:sldId id="2147377210"/>
            <p14:sldId id="2147377211"/>
            <p14:sldId id="2147377215"/>
          </p14:sldIdLst>
        </p14:section>
        <p14:section name="Титульные слайды" id="{1A2CE64B-8A8D-9341-9493-15AD55DBE17E}">
          <p14:sldIdLst>
            <p14:sldId id="747"/>
            <p14:sldId id="2147377428"/>
            <p14:sldId id="2147377216"/>
          </p14:sldIdLst>
        </p14:section>
        <p14:section name="Содержание" id="{A0F0AB5E-C3C1-0547-9DD6-2DD5C1FE8EF7}">
          <p14:sldIdLst>
            <p14:sldId id="752"/>
          </p14:sldIdLst>
        </p14:section>
        <p14:section name="Слайд разделитель тем" id="{0AE627CF-1CE6-924D-AE38-93BA3DDFC4E3}">
          <p14:sldIdLst>
            <p14:sldId id="754"/>
            <p14:sldId id="751"/>
            <p14:sldId id="2147377412"/>
            <p14:sldId id="2147377271"/>
          </p14:sldIdLst>
        </p14:section>
        <p14:section name="Слайд-отбивка, циатата, ключевой вывод/фактоид" id="{94E9EB68-39EF-F54A-AB2A-02F0A8B342A6}">
          <p14:sldIdLst>
            <p14:sldId id="756"/>
            <p14:sldId id="761"/>
          </p14:sldIdLst>
        </p14:section>
        <p14:section name="Слайды наполнители/Текст" id="{AAC21082-8BF7-E34B-9E25-3EF50ACF95F1}">
          <p14:sldIdLst>
            <p14:sldId id="2147377263"/>
            <p14:sldId id="764"/>
            <p14:sldId id="2147377217"/>
            <p14:sldId id="765"/>
            <p14:sldId id="2147377261"/>
            <p14:sldId id="768"/>
            <p14:sldId id="2147377267"/>
            <p14:sldId id="770"/>
            <p14:sldId id="2147377419"/>
            <p14:sldId id="2147377420"/>
            <p14:sldId id="774"/>
            <p14:sldId id="771"/>
          </p14:sldIdLst>
        </p14:section>
        <p14:section name="Слайды О спикере/Контакты" id="{D54C36DA-9F9E-AB4B-B77E-3DF56173D731}">
          <p14:sldIdLst>
            <p14:sldId id="776"/>
            <p14:sldId id="778"/>
          </p14:sldIdLst>
        </p14:section>
        <p14:section name="Слайды /Текст+Изображение/3д/иллюстрация" id="{C46A06CE-C523-2046-897A-802C8D9FFBDA}">
          <p14:sldIdLst>
            <p14:sldId id="781"/>
            <p14:sldId id="783"/>
            <p14:sldId id="784"/>
            <p14:sldId id="2147377421"/>
            <p14:sldId id="787"/>
            <p14:sldId id="789"/>
            <p14:sldId id="790"/>
            <p14:sldId id="793"/>
            <p14:sldId id="794"/>
            <p14:sldId id="796"/>
            <p14:sldId id="797"/>
            <p14:sldId id="798"/>
            <p14:sldId id="799"/>
          </p14:sldIdLst>
        </p14:section>
        <p14:section name="Слайды с мокапами" id="{C788C13E-466E-BA46-B308-01B4D0C69581}">
          <p14:sldIdLst>
            <p14:sldId id="2147377416"/>
            <p14:sldId id="2147377418"/>
            <p14:sldId id="2147377266"/>
            <p14:sldId id="2147377417"/>
            <p14:sldId id="808"/>
            <p14:sldId id="2147377415"/>
            <p14:sldId id="807"/>
          </p14:sldIdLst>
        </p14:section>
        <p14:section name="Слайды с графиками" id="{38064241-0BA0-9D4A-A2B5-B826C5DEB8BA}">
          <p14:sldIdLst>
            <p14:sldId id="810"/>
            <p14:sldId id="2147377162"/>
            <p14:sldId id="2147377199"/>
            <p14:sldId id="2147377163"/>
            <p14:sldId id="2147377424"/>
            <p14:sldId id="2147377167"/>
            <p14:sldId id="2147377168"/>
          </p14:sldIdLst>
        </p14:section>
        <p14:section name="Слайды с таблицами" id="{6AB4839B-B6AE-7446-B880-037AEBCBC1F6}">
          <p14:sldIdLst>
            <p14:sldId id="2147377169"/>
            <p14:sldId id="2147377171"/>
          </p14:sldIdLst>
        </p14:section>
        <p14:section name="Слайды с прогресс баром" id="{CA9118DE-A53F-E544-9DE6-0FA0EAD83900}">
          <p14:sldIdLst>
            <p14:sldId id="2147377172"/>
            <p14:sldId id="2147377173"/>
          </p14:sldIdLst>
        </p14:section>
        <p14:section name="Слайды с командой/отделом" id="{AC83F3A3-D46E-3E4A-8A91-76A9388703F3}">
          <p14:sldIdLst>
            <p14:sldId id="2147377174"/>
          </p14:sldIdLst>
        </p14:section>
        <p14:section name="Слайды с инфографикой/схемами, roadmap, воронки, пирамиды" id="{6A885FB0-B1C6-3A46-81BC-B9A906CE248F}">
          <p14:sldIdLst>
            <p14:sldId id="2147377181"/>
            <p14:sldId id="2147377182"/>
            <p14:sldId id="2147377183"/>
            <p14:sldId id="2147377184"/>
            <p14:sldId id="2147377186"/>
            <p14:sldId id="2147377187"/>
            <p14:sldId id="2147377188"/>
            <p14:sldId id="2147377189"/>
            <p14:sldId id="2147377190"/>
            <p14:sldId id="2147377191"/>
            <p14:sldId id="2147377269"/>
            <p14:sldId id="2147377192"/>
            <p14:sldId id="2147377193"/>
          </p14:sldIdLst>
        </p14:section>
        <p14:section name="Слайд с QR кодом" id="{14093536-FB84-5748-83FC-4474707A736E}">
          <p14:sldIdLst>
            <p14:sldId id="2147377176"/>
          </p14:sldIdLst>
        </p14:section>
        <p14:section name="Завершающий слайд" id="{629D2865-0EDD-ED4A-B2F7-13BC98080177}">
          <p14:sldIdLst>
            <p14:sldId id="2147377427"/>
            <p14:sldId id="779"/>
          </p14:sldIdLst>
        </p14:section>
      </p14:sectionLst>
    </p:ex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D5"/>
    <a:srgbClr val="E6F3D4"/>
    <a:srgbClr val="FA9174"/>
    <a:srgbClr val="FFBFA3"/>
    <a:srgbClr val="F5F5F6"/>
    <a:srgbClr val="D2D5DB"/>
    <a:srgbClr val="D8DADD"/>
    <a:srgbClr val="B5B1EF"/>
    <a:srgbClr val="FFD9C9"/>
    <a:srgbClr val="E9F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3342"/>
  </p:normalViewPr>
  <p:slideViewPr>
    <p:cSldViewPr snapToGrid="0" snapToObjects="1" showGuides="1">
      <p:cViewPr varScale="1">
        <p:scale>
          <a:sx n="75" d="100"/>
          <a:sy n="75" d="100"/>
        </p:scale>
        <p:origin x="720" y="168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6" Type="http://schemas.openxmlformats.org/officeDocument/2006/relationships/slide" Target="slides/slide35.xml"/><Relationship Id="rId54" Type="http://schemas.openxmlformats.org/officeDocument/2006/relationships/slide" Target="slides/slide53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8" Type="http://schemas.openxmlformats.org/officeDocument/2006/relationships/slide" Target="slides/slide67.xml"/><Relationship Id="rId83" Type="http://schemas.openxmlformats.org/officeDocument/2006/relationships/slide" Target="slides/slide82.xml"/><Relationship Id="rId85" Type="http://schemas.openxmlformats.org/officeDocument/2006/relationships/notesMaster" Target="notesMasters/notesMaster1.xml"/><Relationship Id="rId86" Type="http://schemas.openxmlformats.org/officeDocument/2006/relationships/handoutMaster" Target="handoutMasters/handoutMaster1.xml"/><Relationship Id="rId87" Type="http://schemas.openxmlformats.org/officeDocument/2006/relationships/font" Target="fonts/font1.fntdata"/><Relationship Id="rId88" Type="http://schemas.openxmlformats.org/officeDocument/2006/relationships/font" Target="fonts/font2.fntdata"/><Relationship Id="rId89" Type="http://schemas.openxmlformats.org/officeDocument/2006/relationships/font" Target="fonts/font3.fntdata"/><Relationship Id="rId90" Type="http://schemas.openxmlformats.org/officeDocument/2006/relationships/font" Target="fonts/font4.fntdata"/><Relationship Id="rId91" Type="http://schemas.openxmlformats.org/officeDocument/2006/relationships/font" Target="fonts/font5.fntdata"/><Relationship Id="rId92" Type="http://schemas.openxmlformats.org/officeDocument/2006/relationships/commentAuthors" Target="commentAuthors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14.01.2026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[Титул — 0:20] Здравствуйте! Мы команда «Амба». Амба — это амурский тигрёнок и наш AI-гид по Приморскому краю: вы пишете поездку обычными словами, а агент собирает план и проверяет, что он сходится с реальностью.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[Как повторить — 0:30] Повторить можно за пять минут: установить зависимости, вписать ключ, запустить, прогнать тесты и замеры. Деплой — одна команда, приложение собирается в Docker. Новый тул — это файл с описанием, схемой и функцией. Код открыт на GitHub, а по QR-коду можно попробовать Амбу прямо сейчас.</a:t>
            </a:r>
          </a:p>
        </p:txBody>
      </p:sp>
    </p:spTree>
    <p:extLst>
      <p:ext uri="{BB962C8B-B14F-4D97-AF65-F5344CB8AC3E}">
        <p14:creationId xmlns:p14="http://schemas.microsoft.com/office/powerpoint/2010/main" val="2952485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[Проблема — 0:50] Чтобы спланировать даже выходные, нужно открыть десяток сайтов: погода, расписания автобусов, часы работы музеев, заправки, жильё, кафе. Обычный чат-бот быстро выдаёт план, но не проверяет его — и ведёт в закрытый музей или на велосипед под ливень. А в Приморье цена ошибки выше: сопки, грунтовки, редкие рейсы. Наши пользователи — гости края, местные жители, которые ищут, куда поехать на выходные, и travel-сервисы, например банковские, где из плана можно сразу перейти к брони и оплате.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[Демо — 0:50] Вот как это выглядит. Человек пишет: «на три дня на машине в Хасанский район». Если чего-то не хватает, Амба коротко уточняет, например какую кухню вы любите. Дальше видно, что агент понял из запроса, статус проверки, дни таймлайном и маршрут на карте — по улицам, а не напрямик. Обеды — реальные кафе из OpenStreetMap. У каждого пункта есть ссылки: карта, сайт, расписание и билеты, гостиницы рядом. Демо открыто по ссылке на последнем слайде.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[Агентный цикл — 0:50] Это не один промпт, а агентный цикл. Сначала фильтр: всё, что не про Приморье, отклоняется без вызова модели. Если важного не хватает, агент задаёт один-два вопроса. Дальше модель сама выбирает тулы, мы вызываем их параллельно и возвращаем данные, и так по кругу, пока данных не хватит. Готовый план проходит проверку; если есть противоречия, агент их исправляет. Цикл написан с нуля на FastAPI, модель — DeepSeek через OpenRouter.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[Проверка и guardrails — 0:50] Главное правило задания — план должен сходиться. Проверку делает код, а не модель: для пешехода — не больше двадцати километров и до заката, для велосипеда — не в дождь, для автобуса — рейс реально ходит и вы успеваете на последний, для машины — по пути есть заправки. Плюс сроки, ночёвка, режим работы, погода. И Амба говорит только о Приморье: алгебру, Сочи и «забудь правила» вежливо отклоняет, а поездку из Хабаровска во Владивосток спокойно планирует.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[Замеры — 0:55] Замеряли три версии на одном наборе из 10 запросов: 7 поездок разным транспортом и 3 нецелевых. Качество — это верно ли выбраны тулы плюс доля пройденных проверок плана. Бейзлайн — короткий промпт и сырые ответы тулов. Вторая версия — сжатие контекста, фильтр и цикл исправлений. Третья — исправления, найденные эвалом, и модель DeepSeek. Качество выросло с 0.64 до 1.00, токенов стало почти втрое меньше, а запрос стоит меньше цента.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[Выводы — 0:40] Что дали улучшения. Сжатие контекста срезало токены больше чем вдвое: геометрию маршрутов и почасовую погоду модели видеть не нужно. Доля планов, которые проходят все проверки, выросла с сорока трёх до ста процентов. И самое ценное: эвал нашёл три настоящих бага агента — обрезанный план, дни строкой и зацикливание на невыполнимом запросе. Все исправлены.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[Команда — 0:30] Нас семеро: двое бэкенд-разработчиков отвечали за агента, тулы и деплой, два ML-инженера — за промпты, версии агента, эвал и интерфейс, QA — за тесты и guardrails, тимлид — за архитектуру, инженер по отладке — за поиск и разбор багов.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[Данные — 0:35] У агента десять тулов. Реальных источников пять: погода из Open-Meteo, маршруты по дорогам и тропам из OSRM, кафе и геокодер из OpenStreetMap, заправки из Overpass и справки из Википедии. Чего в открытом доступе нет — наличие бензина, свободные номера, расписания — подставляем из своих наборов данных. Если API лежит, тул не падает, а честно переходит на оценку.</a:t>
            </a:r>
          </a:p>
        </p:txBody>
      </p:sp>
    </p:spTree>
    <p:extLst>
      <p:ext uri="{BB962C8B-B14F-4D97-AF65-F5344CB8AC3E}">
        <p14:creationId xmlns:p14="http://schemas.microsoft.com/office/powerpoint/2010/main" val="1915125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[Сравнение — 0:35] Чат-боты понимают свободный текст, но ничего не проверяют. Агрегаторы продают билеты, но поездку не строят. Путеводители надёжны, но статичны. Амба соединяет всё: свободный запрос, полный план, проверку по реальным данным и ссылки, чтобы сразу всё оформить.</a:t>
            </a:r>
          </a:p>
        </p:txBody>
      </p:sp>
    </p:spTree>
    <p:extLst>
      <p:ext uri="{BB962C8B-B14F-4D97-AF65-F5344CB8AC3E}">
        <p14:creationId xmlns:p14="http://schemas.microsoft.com/office/powerpoint/2010/main" val="1785824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[Финал — 0:10] Спасибо! Готовы ответить на вопросы. Хорошей дороги!</a:t>
            </a:r>
          </a:p>
        </p:txBody>
      </p:sp>
    </p:spTree>
    <p:extLst>
      <p:ext uri="{BB962C8B-B14F-4D97-AF65-F5344CB8AC3E}">
        <p14:creationId xmlns:p14="http://schemas.microsoft.com/office/powerpoint/2010/main" val="30003447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Мокап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8594727-B3A3-CA4C-C098-FEE09E0B0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77865" y="956976"/>
            <a:ext cx="6848382" cy="9556750"/>
          </a:xfrm>
          <a:prstGeom prst="rect">
            <a:avLst/>
          </a:prstGeom>
        </p:spPr>
      </p:pic>
      <p:sp>
        <p:nvSpPr>
          <p:cNvPr id="3" name="Рисунок 11">
            <a:extLst>
              <a:ext uri="{FF2B5EF4-FFF2-40B4-BE49-F238E27FC236}">
                <a16:creationId xmlns:a16="http://schemas.microsoft.com/office/drawing/2014/main" id="{47F5CBA1-9AE4-2078-1535-A1859BF707C8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1287347" y="1820405"/>
            <a:ext cx="5270760" cy="8684695"/>
          </a:xfrm>
          <a:prstGeom prst="round2SameRect">
            <a:avLst>
              <a:gd name="adj1" fmla="val 11496"/>
              <a:gd name="adj2" fmla="val 0"/>
            </a:avLst>
          </a:prstGeom>
          <a:solidFill>
            <a:schemeClr val="accent5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7892326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Мокап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A4DD64-6179-0037-7C9D-ECB3732EA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3924" y="155779"/>
            <a:ext cx="5659820" cy="10603499"/>
          </a:xfrm>
          <a:prstGeom prst="rect">
            <a:avLst/>
          </a:prstGeom>
        </p:spPr>
      </p:pic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C3805E50-9EFD-DD7E-850A-B3204F4BC4B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8336505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E6934F6-D53F-0732-11E7-03CB1105EC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29151" y="155779"/>
            <a:ext cx="5659820" cy="10603499"/>
          </a:xfrm>
          <a:prstGeom prst="rect">
            <a:avLst/>
          </a:prstGeom>
        </p:spPr>
      </p:pic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E2C03567-570E-DE7D-3204-B9451EF6CBD6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3901732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29619248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Мокап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5B910C-4492-5E2E-7DD6-5FFBE090F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79109" y="370889"/>
            <a:ext cx="4184195" cy="7838961"/>
          </a:xfrm>
          <a:prstGeom prst="rect">
            <a:avLst/>
          </a:prstGeom>
        </p:spPr>
      </p:pic>
      <p:sp>
        <p:nvSpPr>
          <p:cNvPr id="5" name="Рисунок 11">
            <a:extLst>
              <a:ext uri="{FF2B5EF4-FFF2-40B4-BE49-F238E27FC236}">
                <a16:creationId xmlns:a16="http://schemas.microsoft.com/office/drawing/2014/main" id="{FCB43D55-6306-5326-164C-3F42EE7C0DF2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968483" y="876197"/>
            <a:ext cx="3229493" cy="6992977"/>
          </a:xfrm>
          <a:prstGeom prst="roundRect">
            <a:avLst>
              <a:gd name="adj" fmla="val 12761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6F1987-40A5-34CB-B4F9-E4F015EC9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1396" y="2668849"/>
            <a:ext cx="4184195" cy="7838961"/>
          </a:xfrm>
          <a:prstGeom prst="rect">
            <a:avLst/>
          </a:prstGeom>
        </p:spPr>
      </p:pic>
      <p:sp>
        <p:nvSpPr>
          <p:cNvPr id="7" name="Рисунок 11">
            <a:extLst>
              <a:ext uri="{FF2B5EF4-FFF2-40B4-BE49-F238E27FC236}">
                <a16:creationId xmlns:a16="http://schemas.microsoft.com/office/drawing/2014/main" id="{68173E91-AB78-054E-212F-C2FF81D99F74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870770" y="3174157"/>
            <a:ext cx="3229493" cy="6992977"/>
          </a:xfrm>
          <a:prstGeom prst="roundRect">
            <a:avLst>
              <a:gd name="adj" fmla="val 12761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CDEB41-F740-7B5B-E97E-6FD18884E4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83683" y="1081397"/>
            <a:ext cx="4184195" cy="7838961"/>
          </a:xfrm>
          <a:prstGeom prst="rect">
            <a:avLst/>
          </a:prstGeom>
        </p:spPr>
      </p:pic>
      <p:sp>
        <p:nvSpPr>
          <p:cNvPr id="9" name="Рисунок 11">
            <a:extLst>
              <a:ext uri="{FF2B5EF4-FFF2-40B4-BE49-F238E27FC236}">
                <a16:creationId xmlns:a16="http://schemas.microsoft.com/office/drawing/2014/main" id="{5F7DB011-28DC-2814-01DC-A19532AE4CFC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5773057" y="1586705"/>
            <a:ext cx="3229493" cy="6992977"/>
          </a:xfrm>
          <a:prstGeom prst="roundRect">
            <a:avLst>
              <a:gd name="adj" fmla="val 12567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25767245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5" r:id="rId43"/>
    <p:sldLayoutId id="2147483858" r:id="rId44"/>
    <p:sldLayoutId id="2147483856" r:id="rId45"/>
    <p:sldLayoutId id="2147483857" r:id="rId46"/>
    <p:sldLayoutId id="2147483851" r:id="rId47"/>
    <p:sldLayoutId id="2147483809" r:id="rId48"/>
    <p:sldLayoutId id="2147483841" r:id="rId49"/>
    <p:sldLayoutId id="2147483847" r:id="rId50"/>
    <p:sldLayoutId id="2147483863" r:id="rId51"/>
    <p:sldLayoutId id="2147483834" r:id="rId52"/>
    <p:sldLayoutId id="2147483832" r:id="rId53"/>
    <p:sldLayoutId id="2147483835" r:id="rId54"/>
    <p:sldLayoutId id="2147483833" r:id="rId55"/>
    <p:sldLayoutId id="2147483843" r:id="rId56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5.png"/><Relationship Id="rId3" Type="http://schemas.microsoft.com/office/2007/relationships/hdphoto" Target="../media/hdphoto1.wdp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6.png"/><Relationship Id="rId3" Type="http://schemas.openxmlformats.org/officeDocument/2006/relationships/notesSlide" Target="../notesSlides/notesSlide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8.png"/><Relationship Id="rId4" Type="http://schemas.openxmlformats.org/officeDocument/2006/relationships/image" Target="../media/image2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234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notesSlide" Target="../notesSlides/notesSlide1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9.png"/><Relationship Id="rId4" Type="http://schemas.openxmlformats.org/officeDocument/2006/relationships/image" Target="../media/image28.png"/><Relationship Id="rId5" Type="http://schemas.openxmlformats.org/officeDocument/2006/relationships/image" Target="../media/image18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5C2B63-F93E-66F2-5F87-51E8358248D0}"/>
              </a:ext>
            </a:extLst>
          </p:cNvPr>
          <p:cNvSpPr txBox="1"/>
          <p:nvPr/>
        </p:nvSpPr>
        <p:spPr>
          <a:xfrm>
            <a:off x="1510388" y="6686609"/>
            <a:ext cx="8081481" cy="18535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6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Амба — AI-гид по Приморью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44728-9F0E-61F8-FE54-8698AF90E8C4}"/>
              </a:ext>
            </a:extLst>
          </p:cNvPr>
          <p:cNvSpPr txBox="1"/>
          <p:nvPr/>
        </p:nvSpPr>
        <p:spPr>
          <a:xfrm>
            <a:off x="1510388" y="8815153"/>
            <a:ext cx="7391016" cy="495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Агент собирает план поездки и проверяет, что он сходится с реальностью</a:t>
            </a:r>
          </a:p>
        </p:txBody>
      </p:sp>
      <p:pic>
        <p:nvPicPr>
          <p:cNvPr id="6" name="Picture 5" descr="am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0" y="1280160"/>
            <a:ext cx="8101210" cy="877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6057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485897-DF82-1228-4851-4C697F32085C}"/>
              </a:ext>
            </a:extLst>
          </p:cNvPr>
          <p:cNvSpPr txBox="1"/>
          <p:nvPr/>
        </p:nvSpPr>
        <p:spPr>
          <a:xfrm>
            <a:off x="1775009" y="4533816"/>
            <a:ext cx="9282990" cy="6463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2000" b="1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34FC1-D04E-9558-8693-B584309CF57A}"/>
              </a:ext>
            </a:extLst>
          </p:cNvPr>
          <p:cNvSpPr txBox="1"/>
          <p:nvPr/>
        </p:nvSpPr>
        <p:spPr>
          <a:xfrm>
            <a:off x="1906587" y="1692651"/>
            <a:ext cx="11576937" cy="1396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lnSpc>
                <a:spcPts val="66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l">
              <a:lnSpc>
                <a:spcPts val="5400"/>
              </a:lnSpc>
            </a:pPr>
            <a:r>
              <a:rPr lang="ru-RU" sz="48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Замеры нашли настоящие баги агента — все исправлены в финальной версии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3AF48-EC18-830E-7E13-4A8019A8167E}"/>
              </a:ext>
            </a:extLst>
          </p:cNvPr>
          <p:cNvSpPr txBox="1"/>
          <p:nvPr/>
        </p:nvSpPr>
        <p:spPr>
          <a:xfrm>
            <a:off x="12769074" y="7655450"/>
            <a:ext cx="5498259" cy="1748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b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ru-RU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Длинный план обрезался по лимиту токенов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ru-RU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Модель присылала дни строкой, а не списком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ru-RU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На невыполнимом запросе агент ходил по кругу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04B8229-3FC4-73EC-7B51-D9C84F386E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336703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 двумя скругленными соседними углами 4">
            <a:extLst>
              <a:ext uri="{FF2B5EF4-FFF2-40B4-BE49-F238E27FC236}">
                <a16:creationId xmlns:a16="http://schemas.microsoft.com/office/drawing/2014/main" id="{89677204-B3C3-7E6B-03FB-B1DD72328537}"/>
              </a:ext>
            </a:extLst>
          </p:cNvPr>
          <p:cNvSpPr/>
          <p:nvPr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3" name="Рисунок 9">
            <a:extLst>
              <a:ext uri="{FF2B5EF4-FFF2-40B4-BE49-F238E27FC236}">
                <a16:creationId xmlns:a16="http://schemas.microsoft.com/office/drawing/2014/main" id="{1BFC20A9-4CCA-8F79-6AF5-51177E449054}"/>
              </a:ext>
            </a:extLst>
          </p:cNvPr>
          <p:cNvSpPr txBox="1">
            <a:spLocks/>
          </p:cNvSpPr>
          <p:nvPr/>
        </p:nvSpPr>
        <p:spPr>
          <a:xfrm>
            <a:off x="9567332" y="647700"/>
            <a:ext cx="10231967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57200">
              <a:defRPr sz="1800"/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8A8D1-A6B5-7BD3-C5A0-FF79CA9DA612}"/>
              </a:ext>
            </a:extLst>
          </p:cNvPr>
          <p:cNvSpPr txBox="1"/>
          <p:nvPr/>
        </p:nvSpPr>
        <p:spPr>
          <a:xfrm>
            <a:off x="1366838" y="1259821"/>
            <a:ext cx="7232627" cy="17120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Какую проблему решаем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086BE-FAC3-42D4-E2B7-1E8443B11788}"/>
              </a:ext>
            </a:extLst>
          </p:cNvPr>
          <p:cNvSpPr txBox="1"/>
          <p:nvPr/>
        </p:nvSpPr>
        <p:spPr>
          <a:xfrm>
            <a:off x="10415976" y="1259821"/>
            <a:ext cx="8016486" cy="17120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Для кого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CEC06-4BF6-2B25-FF23-F6084058789F}"/>
              </a:ext>
            </a:extLst>
          </p:cNvPr>
          <p:cNvSpPr txBox="1"/>
          <p:nvPr/>
        </p:nvSpPr>
        <p:spPr>
          <a:xfrm>
            <a:off x="10426508" y="6463080"/>
            <a:ext cx="6780512" cy="3083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Гости края, которые впервые во Владивостоке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Местные жители: «куда на выходные»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Travel-сервисы банков и агрегаторы: план → бронь → оплата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Туристические центры и турбазы края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8221DE-924F-376B-D93F-30192F7B8931}"/>
              </a:ext>
            </a:extLst>
          </p:cNvPr>
          <p:cNvSpPr txBox="1"/>
          <p:nvPr/>
        </p:nvSpPr>
        <p:spPr>
          <a:xfrm>
            <a:off x="10415976" y="5613928"/>
            <a:ext cx="7232627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Кому полезна Амба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027A8B8-587F-4B4E-D20B-74A03FAA05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24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58B04-F0DC-6088-99AF-6F628971E3F5}"/>
              </a:ext>
            </a:extLst>
          </p:cNvPr>
          <p:cNvSpPr txBox="1"/>
          <p:nvPr/>
        </p:nvSpPr>
        <p:spPr>
          <a:xfrm>
            <a:off x="1377370" y="6463080"/>
            <a:ext cx="6780512" cy="3083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Погода, расписания, режим музеев, АЗС, жильё, кафе — всё в разных местах.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Чат-боты строят план, но не проверяют его: ведут в закрытый музей или на велосипед под ливень.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Приморье цена ошибки выше: сопки, грунтовки, редкие рейсы и паромы.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D57A5-DFD5-DFAB-26FD-E1EFAD4F7227}"/>
              </a:ext>
            </a:extLst>
          </p:cNvPr>
          <p:cNvSpPr txBox="1"/>
          <p:nvPr/>
        </p:nvSpPr>
        <p:spPr>
          <a:xfrm>
            <a:off x="1366838" y="5613928"/>
            <a:ext cx="7232627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Поездку собирают из десятка сайтов</a:t>
            </a:r>
          </a:p>
        </p:txBody>
      </p:sp>
    </p:spTree>
    <p:extLst>
      <p:ext uri="{BB962C8B-B14F-4D97-AF65-F5344CB8AC3E}">
        <p14:creationId xmlns:p14="http://schemas.microsoft.com/office/powerpoint/2010/main" val="384772099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9F53D-12DD-F728-FBAF-6F896C8C6E9F}"/>
              </a:ext>
            </a:extLst>
          </p:cNvPr>
          <p:cNvSpPr txBox="1"/>
          <p:nvPr/>
        </p:nvSpPr>
        <p:spPr>
          <a:xfrm>
            <a:off x="611188" y="556966"/>
            <a:ext cx="5879259" cy="2558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План должен сходиться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811FD-CFB6-AA9B-18BE-0A3E8DAAB793}"/>
              </a:ext>
            </a:extLst>
          </p:cNvPr>
          <p:cNvSpPr txBox="1"/>
          <p:nvPr/>
        </p:nvSpPr>
        <p:spPr>
          <a:xfrm>
            <a:off x="7359458" y="2809908"/>
            <a:ext cx="5040000" cy="6657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latin typeface="T-Sans" pitchFamily="2" charset="0"/>
                <a:ea typeface="T-Sans" pitchFamily="2" charset="0"/>
              </a:rPr>
              <a:t>Пешком — до 20 км в день и до заката</a:t>
            </a:r>
          </a:p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latin typeface="T-Sans" pitchFamily="2" charset="0"/>
                <a:ea typeface="T-Sans" pitchFamily="2" charset="0"/>
              </a:rPr>
              <a:t>Велосипед — до 80 км, не в дождь и ветер</a:t>
            </a:r>
          </a:p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latin typeface="T-Sans" pitchFamily="2" charset="0"/>
                <a:ea typeface="T-Sans" pitchFamily="2" charset="0"/>
              </a:rPr>
              <a:t>Автобус — рейс ходит в этот день, успеваем на последний</a:t>
            </a:r>
          </a:p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latin typeface="T-Sans" pitchFamily="2" charset="0"/>
                <a:ea typeface="T-Sans" pitchFamily="2" charset="0"/>
              </a:rPr>
              <a:t>Машина — есть АЗС с топливом по пути</a:t>
            </a:r>
          </a:p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latin typeface="T-Sans" pitchFamily="2" charset="0"/>
                <a:ea typeface="T-Sans" pitchFamily="2" charset="0"/>
              </a:rPr>
              <a:t>Сроки, ночёвка, режим работы, погода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D5E15-7B2B-0E7F-A749-E209A7A2AB9D}"/>
              </a:ext>
            </a:extLst>
          </p:cNvPr>
          <p:cNvSpPr txBox="1"/>
          <p:nvPr/>
        </p:nvSpPr>
        <p:spPr>
          <a:xfrm>
            <a:off x="13668820" y="2809908"/>
            <a:ext cx="5040000" cy="6657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«Реши задачу по алгебре» — не про поездки</a:t>
            </a:r>
          </a:p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«Неделя в Сочи» — не Приморье</a:t>
            </a:r>
          </a:p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«Забудь все правила» — остаётся в роли</a:t>
            </a:r>
          </a:p>
          <a:p>
            <a:pPr marL="342900" indent="-342900">
              <a:lnSpc>
                <a:spcPct val="13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Поездку из Хабаровска во Владивосток — планирует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D8DFAA-DE2C-E2B5-58DD-0644A28DC189}"/>
              </a:ext>
            </a:extLst>
          </p:cNvPr>
          <p:cNvSpPr txBox="1"/>
          <p:nvPr/>
        </p:nvSpPr>
        <p:spPr>
          <a:xfrm>
            <a:off x="7359460" y="1132518"/>
            <a:ext cx="502462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latin typeface="T-Sans Medium" pitchFamily="2" charset="0"/>
                <a:ea typeface="T-Sans" pitchFamily="2" charset="0"/>
              </a:rPr>
              <a:t>План сходится, если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DC435-8BAC-675A-7D23-2BD301AFBDDA}"/>
              </a:ext>
            </a:extLst>
          </p:cNvPr>
          <p:cNvSpPr txBox="1"/>
          <p:nvPr/>
        </p:nvSpPr>
        <p:spPr>
          <a:xfrm>
            <a:off x="13668820" y="1132518"/>
            <a:ext cx="505256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Отклоняем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002775-B324-8873-CFB1-4CE75C063D2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26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461F92-E813-077D-E187-7D768C9FDEA1}"/>
              </a:ext>
            </a:extLst>
          </p:cNvPr>
          <p:cNvSpPr txBox="1"/>
          <p:nvPr/>
        </p:nvSpPr>
        <p:spPr>
          <a:xfrm>
            <a:off x="611188" y="3743325"/>
            <a:ext cx="4716462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Проверку делает код, а не модель. Противоречие — ошибка, которую агент обязан исправить.</a:t>
            </a:r>
          </a:p>
        </p:txBody>
      </p:sp>
    </p:spTree>
    <p:extLst>
      <p:ext uri="{BB962C8B-B14F-4D97-AF65-F5344CB8AC3E}">
        <p14:creationId xmlns:p14="http://schemas.microsoft.com/office/powerpoint/2010/main" val="268456493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FB529684-05F7-95D9-1851-590B50148214}"/>
              </a:ext>
            </a:extLst>
          </p:cNvPr>
          <p:cNvSpPr/>
          <p:nvPr/>
        </p:nvSpPr>
        <p:spPr>
          <a:xfrm>
            <a:off x="611187" y="6551613"/>
            <a:ext cx="4464051" cy="3956812"/>
          </a:xfrm>
          <a:prstGeom prst="roundRect">
            <a:avLst>
              <a:gd name="adj" fmla="val 12284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9E855791-80C2-D9FD-E059-B5BBF6DED834}"/>
              </a:ext>
            </a:extLst>
          </p:cNvPr>
          <p:cNvSpPr/>
          <p:nvPr/>
        </p:nvSpPr>
        <p:spPr>
          <a:xfrm>
            <a:off x="5315479" y="6551613"/>
            <a:ext cx="4464051" cy="3956812"/>
          </a:xfrm>
          <a:prstGeom prst="roundRect">
            <a:avLst>
              <a:gd name="adj" fmla="val 12284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DBA74EF-13A2-C541-34F0-E25C8EC7276A}"/>
              </a:ext>
            </a:extLst>
          </p:cNvPr>
          <p:cNvSpPr/>
          <p:nvPr/>
        </p:nvSpPr>
        <p:spPr>
          <a:xfrm>
            <a:off x="10019771" y="6551613"/>
            <a:ext cx="4464051" cy="3956812"/>
          </a:xfrm>
          <a:prstGeom prst="roundRect">
            <a:avLst>
              <a:gd name="adj" fmla="val 12284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E13D2DE-8AC9-23F1-5B32-44EE61CCE645}"/>
              </a:ext>
            </a:extLst>
          </p:cNvPr>
          <p:cNvSpPr/>
          <p:nvPr/>
        </p:nvSpPr>
        <p:spPr>
          <a:xfrm>
            <a:off x="14724064" y="6551613"/>
            <a:ext cx="4464051" cy="3956812"/>
          </a:xfrm>
          <a:prstGeom prst="roundRect">
            <a:avLst>
              <a:gd name="adj" fmla="val 12284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98509440-1752-17F2-9789-04C10FF531AF}"/>
              </a:ext>
            </a:extLst>
          </p:cNvPr>
          <p:cNvSpPr/>
          <p:nvPr/>
        </p:nvSpPr>
        <p:spPr>
          <a:xfrm>
            <a:off x="611187" y="640525"/>
            <a:ext cx="18576925" cy="5660263"/>
          </a:xfrm>
          <a:prstGeom prst="roundRect">
            <a:avLst>
              <a:gd name="adj" fmla="val 1038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77DC0A-8110-AEFD-F640-D39B823E5311}"/>
              </a:ext>
            </a:extLst>
          </p:cNvPr>
          <p:cNvSpPr txBox="1"/>
          <p:nvPr/>
        </p:nvSpPr>
        <p:spPr>
          <a:xfrm>
            <a:off x="1141225" y="1115280"/>
            <a:ext cx="14915683" cy="8656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Замеры: 3 версии агента на 10 запросах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66CA688-B606-3151-928E-9E857558A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224" y="2777928"/>
            <a:ext cx="720000" cy="72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C284747-C521-639D-84EB-DED71C3C6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6740" y="2777928"/>
            <a:ext cx="720000" cy="72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05FD291-95A0-E4F6-EB8D-F2A407282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2287" y="2777928"/>
            <a:ext cx="720000" cy="720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E1F96F9-7F09-909A-7788-D43183B60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14074" y="2777928"/>
            <a:ext cx="720000" cy="72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622E12-BF12-76CC-58BC-A10E5D8CEE0D}"/>
              </a:ext>
            </a:extLst>
          </p:cNvPr>
          <p:cNvSpPr txBox="1"/>
          <p:nvPr/>
        </p:nvSpPr>
        <p:spPr>
          <a:xfrm>
            <a:off x="1141225" y="4378194"/>
            <a:ext cx="3551545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7 поездок разным транспортом и 3 нецелевых запроса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5CA25-ADE0-1782-7D8C-DDF564AC4F2B}"/>
              </a:ext>
            </a:extLst>
          </p:cNvPr>
          <p:cNvSpPr txBox="1"/>
          <p:nvPr/>
        </p:nvSpPr>
        <p:spPr>
          <a:xfrm>
            <a:off x="1141225" y="3773240"/>
            <a:ext cx="3551545" cy="453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3600"/>
              </a:lnSpc>
            </a:pPr>
            <a:r>
              <a:rPr lang="ru-RU" sz="2800" dirty="0">
                <a:latin typeface="T-Sans Medium" pitchFamily="2" charset="0"/>
                <a:ea typeface="T-Sans" pitchFamily="2" charset="0"/>
              </a:rPr>
              <a:t>Набор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80CF60-1E84-A858-A57B-0207A544F03A}"/>
              </a:ext>
            </a:extLst>
          </p:cNvPr>
          <p:cNvSpPr txBox="1"/>
          <p:nvPr/>
        </p:nvSpPr>
        <p:spPr>
          <a:xfrm>
            <a:off x="5816741" y="4378194"/>
            <a:ext cx="3551545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Верный выбор тулов + доля пройденных проверок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07F1F9-B396-4FD8-5C59-7A162F833BF6}"/>
              </a:ext>
            </a:extLst>
          </p:cNvPr>
          <p:cNvSpPr txBox="1"/>
          <p:nvPr/>
        </p:nvSpPr>
        <p:spPr>
          <a:xfrm>
            <a:off x="5816741" y="3773240"/>
            <a:ext cx="3551545" cy="453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3600"/>
              </a:lnSpc>
            </a:pPr>
            <a:r>
              <a:rPr lang="ru-RU" sz="2800" dirty="0">
                <a:latin typeface="T-Sans Medium" pitchFamily="2" charset="0"/>
                <a:ea typeface="T-Sans" pitchFamily="2" charset="0"/>
              </a:rPr>
              <a:t>Качество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AB2940-641C-5E11-809A-067993349E8B}"/>
              </a:ext>
            </a:extLst>
          </p:cNvPr>
          <p:cNvSpPr txBox="1"/>
          <p:nvPr/>
        </p:nvSpPr>
        <p:spPr>
          <a:xfrm>
            <a:off x="10572288" y="4378194"/>
            <a:ext cx="3551545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Токены и $ из ответа OpenRouter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5E499F-EBA7-3462-8998-4F446DB69DD1}"/>
              </a:ext>
            </a:extLst>
          </p:cNvPr>
          <p:cNvSpPr txBox="1"/>
          <p:nvPr/>
        </p:nvSpPr>
        <p:spPr>
          <a:xfrm>
            <a:off x="10572288" y="3773240"/>
            <a:ext cx="3551545" cy="453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3600"/>
              </a:lnSpc>
            </a:pPr>
            <a:r>
              <a:rPr lang="ru-RU" sz="2800" dirty="0">
                <a:latin typeface="T-Sans Medium" pitchFamily="2" charset="0"/>
                <a:ea typeface="T-Sans" pitchFamily="2" charset="0"/>
              </a:rPr>
              <a:t>Стоимость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797753-4796-60B3-E4C6-5AFF4F370F6F}"/>
              </a:ext>
            </a:extLst>
          </p:cNvPr>
          <p:cNvSpPr txBox="1"/>
          <p:nvPr/>
        </p:nvSpPr>
        <p:spPr>
          <a:xfrm>
            <a:off x="15225649" y="4378194"/>
            <a:ext cx="3551545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Время от запроса до готового плана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ADE184-6235-6136-C51E-B7E5910B6024}"/>
              </a:ext>
            </a:extLst>
          </p:cNvPr>
          <p:cNvSpPr txBox="1"/>
          <p:nvPr/>
        </p:nvSpPr>
        <p:spPr>
          <a:xfrm>
            <a:off x="15225649" y="3773240"/>
            <a:ext cx="3551545" cy="453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ts val="3600"/>
              </a:lnSpc>
            </a:pPr>
            <a:r>
              <a:rPr lang="ru-RU" sz="2800" dirty="0">
                <a:latin typeface="T-Sans Medium" pitchFamily="2" charset="0"/>
                <a:ea typeface="T-Sans" pitchFamily="2" charset="0"/>
              </a:rPr>
              <a:t>Скорость</a:t>
            </a: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704D5FBB-382D-7D48-7B9A-47187059D814}"/>
              </a:ext>
            </a:extLst>
          </p:cNvPr>
          <p:cNvSpPr/>
          <p:nvPr/>
        </p:nvSpPr>
        <p:spPr>
          <a:xfrm>
            <a:off x="905256" y="6871438"/>
            <a:ext cx="1709155" cy="5983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Качество</a:t>
            </a: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5264E601-7681-4A55-2E2D-80B8C802819A}"/>
              </a:ext>
            </a:extLst>
          </p:cNvPr>
          <p:cNvSpPr/>
          <p:nvPr/>
        </p:nvSpPr>
        <p:spPr>
          <a:xfrm>
            <a:off x="5593019" y="6871438"/>
            <a:ext cx="1709155" cy="5983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Сходятся</a:t>
            </a: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E9F545F1-706C-4FD8-7AD4-9918A2ED3ECF}"/>
              </a:ext>
            </a:extLst>
          </p:cNvPr>
          <p:cNvSpPr/>
          <p:nvPr/>
        </p:nvSpPr>
        <p:spPr>
          <a:xfrm>
            <a:off x="10330406" y="6871438"/>
            <a:ext cx="1709155" cy="5983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Токены</a:t>
            </a: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08672C8-A9B7-369A-59B1-CFB49980C320}"/>
              </a:ext>
            </a:extLst>
          </p:cNvPr>
          <p:cNvSpPr/>
          <p:nvPr/>
        </p:nvSpPr>
        <p:spPr>
          <a:xfrm>
            <a:off x="15005924" y="6871438"/>
            <a:ext cx="1709155" cy="5983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Цена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AA7E33-136C-71CE-A762-38E46E379854}"/>
              </a:ext>
            </a:extLst>
          </p:cNvPr>
          <p:cNvSpPr txBox="1"/>
          <p:nvPr/>
        </p:nvSpPr>
        <p:spPr>
          <a:xfrm>
            <a:off x="1141225" y="9203646"/>
            <a:ext cx="3551545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было 0.64 у бейзлайна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5A0414-7AA6-2371-C6AE-72CCB51C9F1B}"/>
              </a:ext>
            </a:extLst>
          </p:cNvPr>
          <p:cNvSpPr txBox="1"/>
          <p:nvPr/>
        </p:nvSpPr>
        <p:spPr>
          <a:xfrm>
            <a:off x="1141225" y="8382196"/>
            <a:ext cx="356616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latin typeface="T-Sans Medium" pitchFamily="2" charset="0"/>
                <a:ea typeface="T-Sans" pitchFamily="2" charset="0"/>
              </a:rPr>
              <a:t>1.00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149031-81D8-06C6-ED2F-4F61477E60FE}"/>
              </a:ext>
            </a:extLst>
          </p:cNvPr>
          <p:cNvSpPr txBox="1"/>
          <p:nvPr/>
        </p:nvSpPr>
        <p:spPr>
          <a:xfrm>
            <a:off x="5817398" y="9203646"/>
            <a:ext cx="3551545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планов, было 43%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F9E959-230B-44AF-1F03-35F688B6B84E}"/>
              </a:ext>
            </a:extLst>
          </p:cNvPr>
          <p:cNvSpPr txBox="1"/>
          <p:nvPr/>
        </p:nvSpPr>
        <p:spPr>
          <a:xfrm>
            <a:off x="5817398" y="8382196"/>
            <a:ext cx="356616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latin typeface="T-Sans Medium" pitchFamily="2" charset="0"/>
                <a:ea typeface="T-Sans" pitchFamily="2" charset="0"/>
              </a:rPr>
              <a:t>100%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F98FDA-3821-37DC-6346-E1721FDD0987}"/>
              </a:ext>
            </a:extLst>
          </p:cNvPr>
          <p:cNvSpPr txBox="1"/>
          <p:nvPr/>
        </p:nvSpPr>
        <p:spPr>
          <a:xfrm>
            <a:off x="10573250" y="9203646"/>
            <a:ext cx="3551545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87 тыс. → 32 тыс. на запрос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6D4232-C9D5-4564-AD19-6C317E8B06C6}"/>
              </a:ext>
            </a:extLst>
          </p:cNvPr>
          <p:cNvSpPr txBox="1"/>
          <p:nvPr/>
        </p:nvSpPr>
        <p:spPr>
          <a:xfrm>
            <a:off x="10573250" y="8382196"/>
            <a:ext cx="356616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latin typeface="T-Sans Medium" pitchFamily="2" charset="0"/>
                <a:ea typeface="T-Sans" pitchFamily="2" charset="0"/>
              </a:rPr>
              <a:t>−63%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6F54EC-C6E2-D11F-EA03-5F4FE72EA6F7}"/>
              </a:ext>
            </a:extLst>
          </p:cNvPr>
          <p:cNvSpPr txBox="1"/>
          <p:nvPr/>
        </p:nvSpPr>
        <p:spPr>
          <a:xfrm>
            <a:off x="15225649" y="9203646"/>
            <a:ext cx="3551545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за запрос на DeepSeek V4.1 Flash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62B8AE-2A70-442C-3170-4F0AF533EE7B}"/>
              </a:ext>
            </a:extLst>
          </p:cNvPr>
          <p:cNvSpPr txBox="1"/>
          <p:nvPr/>
        </p:nvSpPr>
        <p:spPr>
          <a:xfrm>
            <a:off x="15225649" y="8382196"/>
            <a:ext cx="356616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latin typeface="T-Sans Medium" pitchFamily="2" charset="0"/>
                <a:ea typeface="T-Sans" pitchFamily="2" charset="0"/>
              </a:rPr>
              <a:t>$0.005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E1B5372-CB3D-D524-7B38-4E4C8C47FA4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120988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17E619-E9AB-8FEA-39D5-D0386A956292}"/>
              </a:ext>
            </a:extLst>
          </p:cNvPr>
          <p:cNvSpPr txBox="1"/>
          <p:nvPr/>
        </p:nvSpPr>
        <p:spPr>
          <a:xfrm>
            <a:off x="611188" y="556966"/>
            <a:ext cx="18576925" cy="8656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Агентный цикл, а не один промпт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19CAE66-3643-CACC-10C9-CD4BEE6719FE}"/>
              </a:ext>
            </a:extLst>
          </p:cNvPr>
          <p:cNvSpPr/>
          <p:nvPr/>
        </p:nvSpPr>
        <p:spPr>
          <a:xfrm>
            <a:off x="5588276" y="5266014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01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D5295F7-6478-92E4-8ECA-DEAA20F4C522}"/>
              </a:ext>
            </a:extLst>
          </p:cNvPr>
          <p:cNvSpPr/>
          <p:nvPr/>
        </p:nvSpPr>
        <p:spPr>
          <a:xfrm>
            <a:off x="11880446" y="5266014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02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EA1F656F-7CFA-E730-B662-8FB53DA894A3}"/>
              </a:ext>
            </a:extLst>
          </p:cNvPr>
          <p:cNvSpPr/>
          <p:nvPr/>
        </p:nvSpPr>
        <p:spPr>
          <a:xfrm>
            <a:off x="18172616" y="5266014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03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D708E02-70D4-2438-26F5-23756AC391A8}"/>
              </a:ext>
            </a:extLst>
          </p:cNvPr>
          <p:cNvSpPr/>
          <p:nvPr/>
        </p:nvSpPr>
        <p:spPr>
          <a:xfrm>
            <a:off x="5588276" y="9478785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04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4F7D378-01BB-A424-F6DF-B8D7F61B615A}"/>
              </a:ext>
            </a:extLst>
          </p:cNvPr>
          <p:cNvSpPr/>
          <p:nvPr/>
        </p:nvSpPr>
        <p:spPr>
          <a:xfrm>
            <a:off x="11880446" y="9478785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05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2D3FFEF9-0E9F-7182-B881-74A0FC9BD88A}"/>
              </a:ext>
            </a:extLst>
          </p:cNvPr>
          <p:cNvSpPr/>
          <p:nvPr/>
        </p:nvSpPr>
        <p:spPr>
          <a:xfrm>
            <a:off x="18172616" y="9478785"/>
            <a:ext cx="1034774" cy="103477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B6262-C802-3BDC-99A7-B074E0BB969D}"/>
              </a:ext>
            </a:extLst>
          </p:cNvPr>
          <p:cNvSpPr txBox="1"/>
          <p:nvPr/>
        </p:nvSpPr>
        <p:spPr>
          <a:xfrm>
            <a:off x="1125023" y="3525013"/>
            <a:ext cx="4237831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latin typeface="T-Sans" pitchFamily="2" charset="0"/>
                <a:ea typeface="T-Sans" pitchFamily="2" charset="0"/>
              </a:rPr>
              <a:t>Не про Приморье — отказ без вызова модели, 0 токенов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012E2-6A79-9069-67A4-F72FCFA6D528}"/>
              </a:ext>
            </a:extLst>
          </p:cNvPr>
          <p:cNvSpPr txBox="1"/>
          <p:nvPr/>
        </p:nvSpPr>
        <p:spPr>
          <a:xfrm>
            <a:off x="1125023" y="2848442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Фильтр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8AA485-438C-EF53-DED1-1DC7C79799CE}"/>
              </a:ext>
            </a:extLst>
          </p:cNvPr>
          <p:cNvSpPr txBox="1"/>
          <p:nvPr/>
        </p:nvSpPr>
        <p:spPr>
          <a:xfrm>
            <a:off x="7389952" y="3525013"/>
            <a:ext cx="4237831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latin typeface="T-Sans" pitchFamily="2" charset="0"/>
                <a:ea typeface="T-Sans" pitchFamily="2" charset="0"/>
              </a:rPr>
              <a:t>1–2 коротких вопроса, если важного не хватает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E640B-CBF4-36ED-08F0-EBDF318159A6}"/>
              </a:ext>
            </a:extLst>
          </p:cNvPr>
          <p:cNvSpPr txBox="1"/>
          <p:nvPr/>
        </p:nvSpPr>
        <p:spPr>
          <a:xfrm>
            <a:off x="7389952" y="2848442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Уточнение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27B782-AB54-6A7B-4DE3-F6F72B643423}"/>
              </a:ext>
            </a:extLst>
          </p:cNvPr>
          <p:cNvSpPr txBox="1"/>
          <p:nvPr/>
        </p:nvSpPr>
        <p:spPr>
          <a:xfrm>
            <a:off x="13654881" y="3525013"/>
            <a:ext cx="4237831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latin typeface="T-Sans" pitchFamily="2" charset="0"/>
                <a:ea typeface="T-Sans" pitchFamily="2" charset="0"/>
              </a:rPr>
              <a:t>Модель сама решает, какие данные нужны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65B2A-2BFB-07D0-A89A-503CA9E14EF6}"/>
              </a:ext>
            </a:extLst>
          </p:cNvPr>
          <p:cNvSpPr txBox="1"/>
          <p:nvPr/>
        </p:nvSpPr>
        <p:spPr>
          <a:xfrm>
            <a:off x="13654881" y="2848442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Выбор тулов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EF222-B522-E90C-293B-3EF6CA3FA185}"/>
              </a:ext>
            </a:extLst>
          </p:cNvPr>
          <p:cNvSpPr txBox="1"/>
          <p:nvPr/>
        </p:nvSpPr>
        <p:spPr>
          <a:xfrm>
            <a:off x="1125023" y="7774389"/>
            <a:ext cx="4237831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latin typeface="T-Sans" pitchFamily="2" charset="0"/>
                <a:ea typeface="T-Sans" pitchFamily="2" charset="0"/>
              </a:rPr>
              <a:t>Параллельно: места, погода, еда, жильё, маршрут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CE3699-8DDC-3186-E99F-EA1BEF60CDD2}"/>
              </a:ext>
            </a:extLst>
          </p:cNvPr>
          <p:cNvSpPr txBox="1"/>
          <p:nvPr/>
        </p:nvSpPr>
        <p:spPr>
          <a:xfrm>
            <a:off x="1125023" y="7097818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Вызов тулов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E334D5-5DC1-7DDA-AEED-FA7386E36952}"/>
              </a:ext>
            </a:extLst>
          </p:cNvPr>
          <p:cNvSpPr txBox="1"/>
          <p:nvPr/>
        </p:nvSpPr>
        <p:spPr>
          <a:xfrm>
            <a:off x="7389952" y="7774389"/>
            <a:ext cx="4237831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latin typeface="T-Sans" pitchFamily="2" charset="0"/>
                <a:ea typeface="T-Sans" pitchFamily="2" charset="0"/>
              </a:rPr>
              <a:t>submit_plan по строгой JSON-схеме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C8231-69BD-78CD-015A-4BE615B464ED}"/>
              </a:ext>
            </a:extLst>
          </p:cNvPr>
          <p:cNvSpPr txBox="1"/>
          <p:nvPr/>
        </p:nvSpPr>
        <p:spPr>
          <a:xfrm>
            <a:off x="7389952" y="7097818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План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A7BA4A-0530-9515-476B-CDEC889EE5BF}"/>
              </a:ext>
            </a:extLst>
          </p:cNvPr>
          <p:cNvSpPr txBox="1"/>
          <p:nvPr/>
        </p:nvSpPr>
        <p:spPr>
          <a:xfrm>
            <a:off x="13654881" y="7774389"/>
            <a:ext cx="4237831" cy="1412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2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sz="2400" dirty="0">
                <a:latin typeface="T-Sans" pitchFamily="2" charset="0"/>
                <a:ea typeface="T-Sans" pitchFamily="2" charset="0"/>
              </a:rPr>
              <a:t>Код ищет противоречия и возвращает их агенту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A096E-0001-0815-67AF-35FC3F615B0F}"/>
              </a:ext>
            </a:extLst>
          </p:cNvPr>
          <p:cNvSpPr txBox="1"/>
          <p:nvPr/>
        </p:nvSpPr>
        <p:spPr>
          <a:xfrm>
            <a:off x="13654881" y="7097818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dirty="0">
                <a:latin typeface="T-Sans Medium" pitchFamily="2" charset="0"/>
                <a:ea typeface="T-Sans" pitchFamily="2" charset="0"/>
              </a:rPr>
              <a:t>Проверка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F83294EC-7A77-39C2-2D03-7DDFB020F3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39796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912917E-E9EE-F1B2-2FAD-34C034F3DA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9799300" cy="11160125"/>
          </a:xfr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BB82B4C-AAC9-094A-CE47-93F6BF5B60B7}"/>
              </a:ext>
            </a:extLst>
          </p:cNvPr>
          <p:cNvSpPr/>
          <p:nvPr/>
        </p:nvSpPr>
        <p:spPr>
          <a:xfrm>
            <a:off x="13139738" y="652653"/>
            <a:ext cx="6048375" cy="9859772"/>
          </a:xfrm>
          <a:prstGeom prst="roundRect">
            <a:avLst>
              <a:gd name="adj" fmla="val 9026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68A529E-5D92-EC3C-D6EF-5B9F6B4B6662}"/>
              </a:ext>
            </a:extLst>
          </p:cNvPr>
          <p:cNvSpPr/>
          <p:nvPr/>
        </p:nvSpPr>
        <p:spPr>
          <a:xfrm>
            <a:off x="6862924" y="652653"/>
            <a:ext cx="6048375" cy="9859772"/>
          </a:xfrm>
          <a:prstGeom prst="roundRect">
            <a:avLst>
              <a:gd name="adj" fmla="val 8724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6C6B0-8F55-C855-2532-897ECEFDBBB5}"/>
              </a:ext>
            </a:extLst>
          </p:cNvPr>
          <p:cNvSpPr txBox="1"/>
          <p:nvPr/>
        </p:nvSpPr>
        <p:spPr>
          <a:xfrm>
            <a:off x="7566405" y="1399427"/>
            <a:ext cx="4862335" cy="20274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66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ru-RU" sz="7200" dirty="0">
                <a:latin typeface="T-Sans" pitchFamily="2" charset="0"/>
                <a:ea typeface="T-Sans" pitchFamily="2" charset="0"/>
              </a:rPr>
              <a:t>Как</a:t>
            </a:r>
          </a:p>
          <a:p>
            <a:pPr>
              <a:lnSpc>
                <a:spcPct val="90000"/>
              </a:lnSpc>
            </a:pPr>
            <a:r>
              <a:rPr lang="ru-RU" sz="7200" dirty="0">
                <a:latin typeface="T-Sans" pitchFamily="2" charset="0"/>
                <a:ea typeface="T-Sans" pitchFamily="2" charset="0"/>
              </a:rPr>
              <a:t>повторить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D32918-0080-C44F-6C3F-D26A7E77664F}"/>
              </a:ext>
            </a:extLst>
          </p:cNvPr>
          <p:cNvSpPr txBox="1"/>
          <p:nvPr/>
        </p:nvSpPr>
        <p:spPr>
          <a:xfrm>
            <a:off x="7566405" y="9182026"/>
            <a:ext cx="4862335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66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ts val="4000"/>
              </a:lnSpc>
            </a:pPr>
            <a:r>
              <a:rPr lang="ru-RU" sz="3200" b="0" dirty="0">
                <a:latin typeface="T-Sans Medium" pitchFamily="2" charset="0"/>
                <a:ea typeface="T-Sans" pitchFamily="2" charset="0"/>
              </a:rPr>
              <a:t>github.com/BessolitsinGleb/AI-ta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FCC8590E-4D5F-70FE-59D9-DBC400C3701F}"/>
              </a:ext>
            </a:extLst>
          </p:cNvPr>
          <p:cNvSpPr>
            <a:spLocks noChangeAspect="1"/>
          </p:cNvSpPr>
          <p:nvPr/>
        </p:nvSpPr>
        <p:spPr>
          <a:xfrm>
            <a:off x="13823951" y="5220051"/>
            <a:ext cx="4644000" cy="4589202"/>
          </a:xfrm>
          <a:prstGeom prst="roundRect">
            <a:avLst>
              <a:gd name="adj" fmla="val 12579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400" dirty="0">
                <a:latin typeface="T-Sans" pitchFamily="2" charset="0"/>
                <a:ea typeface="T-Sans" pitchFamily="2" charset="0"/>
              </a:rPr>
              <a:t> </a:t>
            </a:r>
            <a:endParaRPr kumimoji="0" lang="ru-RU" sz="24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7952B0-1D19-BB65-7451-50BD6BC1DA72}"/>
              </a:ext>
            </a:extLst>
          </p:cNvPr>
          <p:cNvSpPr txBox="1"/>
          <p:nvPr/>
        </p:nvSpPr>
        <p:spPr>
          <a:xfrm>
            <a:off x="13823951" y="2097748"/>
            <a:ext cx="4206240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66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00" b="0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Сканируйте QR-код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222B1-AF64-73F3-FF1B-D02D311781D5}"/>
              </a:ext>
            </a:extLst>
          </p:cNvPr>
          <p:cNvSpPr txBox="1"/>
          <p:nvPr/>
        </p:nvSpPr>
        <p:spPr>
          <a:xfrm>
            <a:off x="13823951" y="2826847"/>
            <a:ext cx="4206240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66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" sz="3200" b="0" dirty="0" err="1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и попробуйте Амбу</a:t>
            </a:r>
            <a:endParaRPr lang="ru-RU" sz="3200" b="0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41273-EE13-944B-D3CE-358F88A3C72A}"/>
              </a:ext>
            </a:extLst>
          </p:cNvPr>
          <p:cNvSpPr txBox="1"/>
          <p:nvPr/>
        </p:nvSpPr>
        <p:spPr>
          <a:xfrm>
            <a:off x="13823951" y="1368649"/>
            <a:ext cx="1914431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66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200" b="0" dirty="0">
                <a:solidFill>
                  <a:schemeClr val="bg1"/>
                </a:solidFill>
                <a:latin typeface="T-Sans Medium" pitchFamily="2" charset="0"/>
                <a:ea typeface="T-Sans Medium" pitchFamily="2" charset="0"/>
              </a:rPr>
              <a:t>Демо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0D320287-CD76-A6E5-77D9-F623A3C39CBA}"/>
              </a:ext>
            </a:extLst>
          </p:cNvPr>
          <p:cNvSpPr txBox="1">
            <a:spLocks/>
          </p:cNvSpPr>
          <p:nvPr/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6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0" marR="0" indent="450029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0" marR="0" indent="90006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0" marR="0" indent="135008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0" marR="0" indent="1800120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0" marR="0" indent="225014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0" marR="0" indent="270017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0" marR="0" indent="3150206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0" marR="0" indent="3600237" algn="l" defTabSz="45002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algn="r">
              <a:buFont typeface="Wingdings" pitchFamily="2" charset="2"/>
              <a:buNone/>
            </a:pPr>
            <a:r>
              <a:rPr lang="ru-RU" dirty="0"/>
              <a:t>11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7589520" y="3749039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latin typeface="Courier New"/>
              </a:rPr>
              <a:t>make install</a:t>
            </a:r>
          </a:p>
          <a:p>
            <a:pPr>
              <a:spcAft>
                <a:spcPts val="1000"/>
              </a:spcAft>
            </a:pPr>
            <a:r>
              <a:rPr sz="2200">
                <a:latin typeface="Courier New"/>
              </a:rPr>
              <a:t>cp .env.example .env</a:t>
            </a:r>
          </a:p>
          <a:p>
            <a:pPr>
              <a:spcAft>
                <a:spcPts val="1000"/>
              </a:spcAft>
            </a:pPr>
            <a:r>
              <a:rPr sz="2200">
                <a:latin typeface="Courier New"/>
              </a:rPr>
              <a:t>make dev</a:t>
            </a:r>
          </a:p>
          <a:p>
            <a:pPr>
              <a:spcAft>
                <a:spcPts val="1000"/>
              </a:spcAft>
            </a:pPr>
            <a:r>
              <a:rPr sz="2200">
                <a:latin typeface="Courier New"/>
              </a:rPr>
              <a:t>make test</a:t>
            </a:r>
          </a:p>
          <a:p>
            <a:pPr>
              <a:spcAft>
                <a:spcPts val="1000"/>
              </a:spcAft>
            </a:pPr>
            <a:r>
              <a:rPr sz="2200">
                <a:latin typeface="Courier New"/>
              </a:rPr>
              <a:t>make eval</a:t>
            </a:r>
          </a:p>
          <a:p>
            <a:pPr>
              <a:spcAft>
                <a:spcPts val="1000"/>
              </a:spcAft>
            </a:pPr>
            <a:r>
              <a:rPr sz="2200">
                <a:latin typeface="Courier New"/>
              </a:rPr>
              <a:t>railway up</a:t>
            </a:r>
          </a:p>
        </p:txBody>
      </p:sp>
      <p:pic>
        <p:nvPicPr>
          <p:cNvPr id="18" name="Picture 17" descr="qr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5430" y="5631531"/>
            <a:ext cx="3821039" cy="382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27817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172203-6727-11D9-129E-9DB54B53E619}"/>
              </a:ext>
            </a:extLst>
          </p:cNvPr>
          <p:cNvSpPr txBox="1"/>
          <p:nvPr/>
        </p:nvSpPr>
        <p:spPr>
          <a:xfrm>
            <a:off x="611188" y="485897"/>
            <a:ext cx="3886853" cy="4732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2400" dirty="0">
                <a:latin typeface="T-Sans" pitchFamily="2" charset="0"/>
                <a:ea typeface="T-Sans" pitchFamily="2" charset="0"/>
              </a:rPr>
              <a:t>Демо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549C0-68A8-F77C-4806-B56A70B21CE9}"/>
              </a:ext>
            </a:extLst>
          </p:cNvPr>
          <p:cNvSpPr txBox="1"/>
          <p:nvPr/>
        </p:nvSpPr>
        <p:spPr>
          <a:xfrm>
            <a:off x="1484382" y="5825492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Реальные кафе и маршрут по улицам на карте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4285F-AB4F-0724-373B-5750AF160F80}"/>
              </a:ext>
            </a:extLst>
          </p:cNvPr>
          <p:cNvSpPr txBox="1"/>
          <p:nvPr/>
        </p:nvSpPr>
        <p:spPr>
          <a:xfrm>
            <a:off x="1484382" y="4545332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Сначала коротко уточнит: кухня, бюджет, темп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17F6D-0626-50A9-12C2-6BD3054382ED}"/>
              </a:ext>
            </a:extLst>
          </p:cNvPr>
          <p:cNvSpPr txBox="1"/>
          <p:nvPr/>
        </p:nvSpPr>
        <p:spPr>
          <a:xfrm>
            <a:off x="1484382" y="7105652"/>
            <a:ext cx="4521708" cy="795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У каждого пункта ссылки: карта, сайт, билеты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8A18F2-BC2C-669C-EAA3-8E10421BA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545332"/>
            <a:ext cx="612000" cy="612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4F5B0B-43E7-2F2E-5A02-A31E574B3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825492"/>
            <a:ext cx="612000" cy="612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1E55C8-12E9-B9C4-62F5-F56F0E741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7105652"/>
            <a:ext cx="612000" cy="612000"/>
          </a:xfrm>
          <a:prstGeom prst="rect">
            <a:avLst/>
          </a:prstGeom>
        </p:spPr>
      </p:pic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D80F3AA8-590A-F4FD-93A4-8847CAF79E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53</a:t>
            </a:fld>
            <a:endParaRPr lang="ru-RU" dirty="0"/>
          </a:p>
        </p:txBody>
      </p:sp>
      <p:pic>
        <p:nvPicPr>
          <p:cNvPr id="13" name="Рисунок 12" descr="plan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135" r="4135"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2B6A30-D262-3493-ACFB-C568E10FCB79}"/>
              </a:ext>
            </a:extLst>
          </p:cNvPr>
          <p:cNvSpPr txBox="1"/>
          <p:nvPr/>
        </p:nvSpPr>
        <p:spPr>
          <a:xfrm>
            <a:off x="611188" y="1321118"/>
            <a:ext cx="5650934" cy="2558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Как это выглядит</a:t>
            </a:r>
          </a:p>
        </p:txBody>
      </p:sp>
    </p:spTree>
    <p:extLst>
      <p:ext uri="{BB962C8B-B14F-4D97-AF65-F5344CB8AC3E}">
        <p14:creationId xmlns:p14="http://schemas.microsoft.com/office/powerpoint/2010/main" val="2262624275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C0E8B0DF-716D-6973-B299-825904190E50}"/>
              </a:ext>
            </a:extLst>
          </p:cNvPr>
          <p:cNvSpPr/>
          <p:nvPr/>
        </p:nvSpPr>
        <p:spPr>
          <a:xfrm>
            <a:off x="624205" y="2051050"/>
            <a:ext cx="18563908" cy="846137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93D15-C7D0-5893-3943-910B51C3F6D4}"/>
              </a:ext>
            </a:extLst>
          </p:cNvPr>
          <p:cNvSpPr txBox="1"/>
          <p:nvPr/>
        </p:nvSpPr>
        <p:spPr>
          <a:xfrm>
            <a:off x="611187" y="553052"/>
            <a:ext cx="18576925" cy="8656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10 тулов и источники данных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DC27D61A-4481-66DB-9A0D-EE397D142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100870"/>
              </p:ext>
            </p:extLst>
          </p:nvPr>
        </p:nvGraphicFramePr>
        <p:xfrm>
          <a:off x="1187450" y="2535405"/>
          <a:ext cx="17445600" cy="7488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815200">
                  <a:extLst>
                    <a:ext uri="{9D8B030D-6E8A-4147-A177-3AD203B41FA5}">
                      <a16:colId xmlns:a16="http://schemas.microsoft.com/office/drawing/2014/main" val="809961215"/>
                    </a:ext>
                  </a:extLst>
                </a:gridCol>
                <a:gridCol w="5815200">
                  <a:extLst>
                    <a:ext uri="{9D8B030D-6E8A-4147-A177-3AD203B41FA5}">
                      <a16:colId xmlns:a16="http://schemas.microsoft.com/office/drawing/2014/main" val="1569285865"/>
                    </a:ext>
                  </a:extLst>
                </a:gridCol>
                <a:gridCol w="5815200">
                  <a:extLst>
                    <a:ext uri="{9D8B030D-6E8A-4147-A177-3AD203B41FA5}">
                      <a16:colId xmlns:a16="http://schemas.microsoft.com/office/drawing/2014/main" val="4051017968"/>
                    </a:ext>
                  </a:extLst>
                </a:gridCol>
              </a:tblGrid>
              <a:tr h="871993">
                <a:tc>
                  <a:txBody>
                    <a:bodyPr/>
                    <a:lstStyle/>
                    <a:p>
                      <a:pPr marL="0" marR="0" indent="0" algn="l" defTabSz="449939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u-RU" sz="30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-Sans Medium" pitchFamily="2" charset="0"/>
                          <a:ea typeface="T-Sans Medium" pitchFamily="2" charset="0"/>
                          <a:cs typeface="+mn-cs"/>
                          <a:sym typeface="Tinkoff Sans"/>
                        </a:rPr>
                        <a:t>Реальные API</a:t>
                      </a:r>
                    </a:p>
                  </a:txBody>
                  <a:tcPr marL="0" marR="18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49939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ru-RU" sz="30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-Sans Medium" pitchFamily="2" charset="0"/>
                          <a:ea typeface="T-Sans Medium" pitchFamily="2" charset="0"/>
                          <a:cs typeface="+mn-cs"/>
                          <a:sym typeface="Tinkoff Sans"/>
                        </a:rPr>
                        <a:t>Свои наборы данных</a:t>
                      </a:r>
                    </a:p>
                  </a:txBody>
                  <a:tcPr marL="0" marR="18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b="0" i="0" u="none" strike="noStrike" cap="none" spc="0" baseline="0" dirty="0">
                          <a:solidFill>
                            <a:schemeClr val="accent2"/>
                          </a:solidFill>
                          <a:uFillTx/>
                          <a:latin typeface="T-Sans Medium" pitchFamily="2" charset="0"/>
                          <a:ea typeface="T-Sans Medium" pitchFamily="2" charset="0"/>
                          <a:cs typeface="+mn-cs"/>
                          <a:sym typeface="Tinkoff Sans"/>
                        </a:rPr>
                        <a:t>Если сервис недоступен</a:t>
                      </a:r>
                    </a:p>
                  </a:txBody>
                  <a:tcPr marL="0" marR="18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153974"/>
                  </a:ext>
                </a:extLst>
              </a:tr>
              <a:tr h="2674516"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Open-Meteo — прогноз погоды на 16 дней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41 место Приморья с часами работы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Тул не падает и переходит на оценку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204417"/>
                  </a:ext>
                </a:extLst>
              </a:tr>
              <a:tr h="2674516"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OSRM — маршруты по дорогам и тропам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Расписания автобусов и электричек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Агент видит пометку и учитывает её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74745"/>
                  </a:ext>
                </a:extLst>
              </a:tr>
              <a:tr h="1266975"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OpenStreetMap — кафе, геокодер, АЗС; Википедия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Жильё и наличие топлива — учебные данные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21750" marR="0" lvl="0" indent="-321750" algn="l" defTabSz="449939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ru-RU" sz="2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+mn-ea"/>
                          <a:cs typeface="+mn-cs"/>
                          <a:sym typeface="Tinkoff Sans"/>
                        </a:rPr>
                        <a:t>Маршрут на карте рисуется пунктиром</a:t>
                      </a:r>
                    </a:p>
                  </a:txBody>
                  <a:tcPr marL="0" marR="360000" marT="0" marB="0" anchor="ctr">
                    <a:lnL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199703"/>
                  </a:ext>
                </a:extLst>
              </a:tr>
            </a:tbl>
          </a:graphicData>
        </a:graphic>
      </p:graphicFrame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46B5C59-DE4F-8398-6F11-5B972E554FC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294624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7FE55B-D590-BF2B-C271-87103BACAF32}"/>
              </a:ext>
            </a:extLst>
          </p:cNvPr>
          <p:cNvSpPr txBox="1"/>
          <p:nvPr/>
        </p:nvSpPr>
        <p:spPr>
          <a:xfrm>
            <a:off x="611187" y="553052"/>
            <a:ext cx="18576925" cy="8656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Чем отличаемся от существующих решений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58303A42-EEC2-AA0B-0586-D6EEB43A0AB8}"/>
              </a:ext>
            </a:extLst>
          </p:cNvPr>
          <p:cNvSpPr/>
          <p:nvPr/>
        </p:nvSpPr>
        <p:spPr>
          <a:xfrm>
            <a:off x="624205" y="2051050"/>
            <a:ext cx="18563908" cy="846137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23D6611-DB9B-8217-758F-4D04E2C2750D}"/>
              </a:ext>
            </a:extLst>
          </p:cNvPr>
          <p:cNvSpPr/>
          <p:nvPr/>
        </p:nvSpPr>
        <p:spPr>
          <a:xfrm>
            <a:off x="16952976" y="2427015"/>
            <a:ext cx="1854977" cy="7709443"/>
          </a:xfrm>
          <a:prstGeom prst="round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C075618-9A3D-A844-8658-A16A74A1E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829434"/>
              </p:ext>
            </p:extLst>
          </p:nvPr>
        </p:nvGraphicFramePr>
        <p:xfrm>
          <a:off x="1181322" y="2537737"/>
          <a:ext cx="17449674" cy="722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1882">
                  <a:extLst>
                    <a:ext uri="{9D8B030D-6E8A-4147-A177-3AD203B41FA5}">
                      <a16:colId xmlns:a16="http://schemas.microsoft.com/office/drawing/2014/main" val="2405586035"/>
                    </a:ext>
                  </a:extLst>
                </a:gridCol>
                <a:gridCol w="2791947">
                  <a:extLst>
                    <a:ext uri="{9D8B030D-6E8A-4147-A177-3AD203B41FA5}">
                      <a16:colId xmlns:a16="http://schemas.microsoft.com/office/drawing/2014/main" val="3058001590"/>
                    </a:ext>
                  </a:extLst>
                </a:gridCol>
                <a:gridCol w="2791947">
                  <a:extLst>
                    <a:ext uri="{9D8B030D-6E8A-4147-A177-3AD203B41FA5}">
                      <a16:colId xmlns:a16="http://schemas.microsoft.com/office/drawing/2014/main" val="3959983633"/>
                    </a:ext>
                  </a:extLst>
                </a:gridCol>
                <a:gridCol w="2791947">
                  <a:extLst>
                    <a:ext uri="{9D8B030D-6E8A-4147-A177-3AD203B41FA5}">
                      <a16:colId xmlns:a16="http://schemas.microsoft.com/office/drawing/2014/main" val="1726706633"/>
                    </a:ext>
                  </a:extLst>
                </a:gridCol>
                <a:gridCol w="2791947">
                  <a:extLst>
                    <a:ext uri="{9D8B030D-6E8A-4147-A177-3AD203B41FA5}">
                      <a16:colId xmlns:a16="http://schemas.microsoft.com/office/drawing/2014/main" val="2765720320"/>
                    </a:ext>
                  </a:extLst>
                </a:gridCol>
              </a:tblGrid>
              <a:tr h="1203960">
                <a:tc>
                  <a:txBody>
                    <a:bodyPr/>
                    <a:lstStyle/>
                    <a:p>
                      <a:pPr algn="l"/>
                      <a:r>
                        <a:rPr lang="ru-RU" sz="3000" b="0" i="0" dirty="0">
                          <a:solidFill>
                            <a:srgbClr val="333333"/>
                          </a:solidFill>
                          <a:latin typeface="T-Sans Medium" pitchFamily="2" charset="0"/>
                          <a:ea typeface="T-Sans Medium" pitchFamily="2" charset="0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3000" b="0" i="0" dirty="0">
                          <a:solidFill>
                            <a:srgbClr val="333333"/>
                          </a:solidFill>
                          <a:latin typeface="T-Sans Medium" pitchFamily="2" charset="0"/>
                          <a:ea typeface="T-Sans Medium" pitchFamily="2" charset="0"/>
                        </a:rPr>
                        <a:t>Чат-боты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3000" b="0" i="0" dirty="0">
                          <a:solidFill>
                            <a:srgbClr val="333333"/>
                          </a:solidFill>
                          <a:latin typeface="T-Sans Medium" pitchFamily="2" charset="0"/>
                          <a:ea typeface="T-Sans Medium" pitchFamily="2" charset="0"/>
                        </a:rPr>
                        <a:t>Агрегаторы билетов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3000" b="0" i="0" dirty="0">
                          <a:solidFill>
                            <a:srgbClr val="333333"/>
                          </a:solidFill>
                          <a:latin typeface="T-Sans Medium" pitchFamily="2" charset="0"/>
                          <a:ea typeface="T-Sans Medium" pitchFamily="2" charset="0"/>
                        </a:rPr>
                        <a:t>Путеводители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3000" b="0" i="0" dirty="0">
                          <a:solidFill>
                            <a:srgbClr val="333333"/>
                          </a:solidFill>
                          <a:latin typeface="T-Sans Medium" pitchFamily="2" charset="0"/>
                          <a:ea typeface="T-Sans Medium" pitchFamily="2" charset="0"/>
                        </a:rPr>
                        <a:t>Амба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743558"/>
                  </a:ext>
                </a:extLst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 Medium" pitchFamily="2" charset="0"/>
                          <a:ea typeface="T-Sans Medium" pitchFamily="2" charset="0"/>
                        </a:rPr>
                        <a:t>Запрос свободным текстом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нет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нет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1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896507"/>
                  </a:ext>
                </a:extLst>
              </a:tr>
              <a:tr h="1203960"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 Medium" pitchFamily="2" charset="0"/>
                          <a:ea typeface="T-Sans Medium" pitchFamily="2" charset="0"/>
                        </a:rPr>
                        <a:t>План целиком: места, путь, ночёвка, еда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T-Sans" pitchFamily="2" charset="0"/>
                          <a:cs typeface="+mn-cs"/>
                          <a:sym typeface="Tinkoff Sans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частично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частично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1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635389"/>
                  </a:ext>
                </a:extLst>
              </a:tr>
              <a:tr h="1203960"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 Medium" pitchFamily="2" charset="0"/>
                          <a:ea typeface="T-Sans Medium" pitchFamily="2" charset="0"/>
                          <a:cs typeface="+mn-cs"/>
                          <a:sym typeface="Tinkoff Sans"/>
                        </a:rPr>
                        <a:t>Проверка погоды и режима работы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T-Sans" pitchFamily="2" charset="0"/>
                          <a:cs typeface="+mn-cs"/>
                          <a:sym typeface="Tinkoff Sans"/>
                        </a:rPr>
                        <a:t>нет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нет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частично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1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172590"/>
                  </a:ext>
                </a:extLst>
              </a:tr>
              <a:tr h="1203960"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 Medium" pitchFamily="2" charset="0"/>
                          <a:ea typeface="T-Sans Medium" pitchFamily="2" charset="0"/>
                          <a:cs typeface="+mn-cs"/>
                          <a:sym typeface="Tinkoff Sans"/>
                        </a:rPr>
                        <a:t>Ограничения транспорта: АЗС, рейсы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T-Sans" pitchFamily="2" charset="0"/>
                          <a:cs typeface="+mn-cs"/>
                          <a:sym typeface="Tinkoff Sans"/>
                        </a:rPr>
                        <a:t>нет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частично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нет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1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947003"/>
                  </a:ext>
                </a:extLst>
              </a:tr>
              <a:tr h="1203960"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 Medium" pitchFamily="2" charset="0"/>
                          <a:ea typeface="T-Sans Medium" pitchFamily="2" charset="0"/>
                          <a:cs typeface="+mn-cs"/>
                          <a:sym typeface="Tinkoff Sans"/>
                        </a:rPr>
                        <a:t>Ссылки, чтобы сразу всё оформить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T-Sans" pitchFamily="2" charset="0"/>
                          <a:ea typeface="T-Sans" pitchFamily="2" charset="0"/>
                          <a:cs typeface="+mn-cs"/>
                          <a:sym typeface="Tinkoff Sans"/>
                        </a:rPr>
                        <a:t>нет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4499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0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частично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b="1" i="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да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48873"/>
                  </a:ext>
                </a:extLst>
              </a:tr>
            </a:tbl>
          </a:graphicData>
        </a:graphic>
      </p:graphicFrame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57040E3C-68E5-D0D7-1E2E-E8B9763B0C1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9044318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44A1AB-F894-6E17-9A54-11A6BB2CE19E}"/>
              </a:ext>
            </a:extLst>
          </p:cNvPr>
          <p:cNvSpPr txBox="1"/>
          <p:nvPr/>
        </p:nvSpPr>
        <p:spPr>
          <a:xfrm>
            <a:off x="7074183" y="540126"/>
            <a:ext cx="5650934" cy="8656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dirty="0">
                <a:latin typeface="T-Sans" pitchFamily="2" charset="0"/>
                <a:ea typeface="T-Sans" pitchFamily="2" charset="0"/>
              </a:rPr>
              <a:t>Наша команда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8F01F-8A0F-486F-1811-6DCEFD439682}"/>
              </a:ext>
            </a:extLst>
          </p:cNvPr>
          <p:cNvSpPr txBox="1"/>
          <p:nvPr/>
        </p:nvSpPr>
        <p:spPr>
          <a:xfrm>
            <a:off x="4380056" y="1674689"/>
            <a:ext cx="11039188" cy="867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algn="ctr"/>
            <a:r>
              <a:rPr lang="ru-RU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Семь участников: люди и AI-агенты, у каждого своя зона ответственности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FB8DE07-9E53-3A5F-2F53-B4D409294F84}"/>
              </a:ext>
            </a:extLst>
          </p:cNvPr>
          <p:cNvGrpSpPr/>
          <p:nvPr/>
        </p:nvGrpSpPr>
        <p:grpSpPr>
          <a:xfrm>
            <a:off x="1467734" y="5989415"/>
            <a:ext cx="2189266" cy="1338828"/>
            <a:chOff x="12891895" y="3617936"/>
            <a:chExt cx="2189266" cy="133882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64CE5C-66EF-DE85-B2BA-C89923F206E3}"/>
                </a:ext>
              </a:extLst>
            </p:cNvPr>
            <p:cNvSpPr txBox="1"/>
            <p:nvPr/>
          </p:nvSpPr>
          <p:spPr>
            <a:xfrm>
              <a:off x="12891896" y="3617936"/>
              <a:ext cx="2189265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300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T-Sans Medium" pitchFamily="2" charset="0"/>
                  <a:ea typeface="T-Sans" pitchFamily="2" charset="0"/>
                  <a:sym typeface="Tinkoff Sans"/>
                </a:rPr>
                <a:t>Саша</a:t>
              </a:r>
            </a:p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ru-RU" sz="3000" dirty="0">
                  <a:solidFill>
                    <a:srgbClr val="333333"/>
                  </a:solidFill>
                  <a:latin typeface="T-Sans Medium" pitchFamily="2" charset="0"/>
                  <a:ea typeface="T-Sans" pitchFamily="2" charset="0"/>
                </a:rPr>
                <a:t>Дё</a:t>
              </a:r>
              <a:endParaRPr kumimoji="0" lang="ru-RU" sz="300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T-Sans Medium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E0C206-9419-8B84-11B9-235A309B3368}"/>
                </a:ext>
              </a:extLst>
            </p:cNvPr>
            <p:cNvSpPr txBox="1"/>
            <p:nvPr/>
          </p:nvSpPr>
          <p:spPr>
            <a:xfrm>
              <a:off x="12891895" y="4602821"/>
              <a:ext cx="2189265" cy="3539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2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sz="2000" dirty="0">
                  <a:latin typeface="T-Sans" pitchFamily="2" charset="0"/>
                  <a:ea typeface="T-Sans" pitchFamily="2" charset="0"/>
                </a:rPr>
                <a:t>Backend developer</a:t>
              </a: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FD05BE5-6B6C-45D3-45C2-C60983B8EDC4}"/>
              </a:ext>
            </a:extLst>
          </p:cNvPr>
          <p:cNvGrpSpPr/>
          <p:nvPr/>
        </p:nvGrpSpPr>
        <p:grpSpPr>
          <a:xfrm>
            <a:off x="8178023" y="5989415"/>
            <a:ext cx="2189266" cy="1338828"/>
            <a:chOff x="12891895" y="3617936"/>
            <a:chExt cx="2189266" cy="13388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4920DD-BE5D-F6E2-F00D-8A2A3A7C9EC5}"/>
                </a:ext>
              </a:extLst>
            </p:cNvPr>
            <p:cNvSpPr txBox="1"/>
            <p:nvPr/>
          </p:nvSpPr>
          <p:spPr>
            <a:xfrm>
              <a:off x="12891896" y="3617936"/>
              <a:ext cx="2189265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300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T-Sans Medium" pitchFamily="2" charset="0"/>
                  <a:ea typeface="T-Sans" pitchFamily="2" charset="0"/>
                  <a:sym typeface="Tinkoff Sans"/>
                </a:rPr>
                <a:t>Глеб</a:t>
              </a:r>
            </a:p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ru-RU" sz="3000" dirty="0">
                  <a:solidFill>
                    <a:srgbClr val="333333"/>
                  </a:solidFill>
                  <a:latin typeface="T-Sans Medium" pitchFamily="2" charset="0"/>
                  <a:ea typeface="T-Sans" pitchFamily="2" charset="0"/>
                </a:rPr>
                <a:t>Бессолицин</a:t>
              </a:r>
              <a:endParaRPr kumimoji="0" lang="ru-RU" sz="300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T-Sans Medium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845913-A1E8-A41C-704B-0FDFD639A1D5}"/>
                </a:ext>
              </a:extLst>
            </p:cNvPr>
            <p:cNvSpPr txBox="1"/>
            <p:nvPr/>
          </p:nvSpPr>
          <p:spPr>
            <a:xfrm>
              <a:off x="12891895" y="4602821"/>
              <a:ext cx="2189265" cy="3539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2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sz="2000" dirty="0">
                  <a:latin typeface="T-Sans" pitchFamily="2" charset="0"/>
                  <a:ea typeface="T-Sans" pitchFamily="2" charset="0"/>
                </a:rPr>
                <a:t>Backend developer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9193ACC-BA48-ED3A-B1E3-7D3A941FE873}"/>
              </a:ext>
            </a:extLst>
          </p:cNvPr>
          <p:cNvGrpSpPr/>
          <p:nvPr/>
        </p:nvGrpSpPr>
        <p:grpSpPr>
          <a:xfrm>
            <a:off x="14888313" y="5989415"/>
            <a:ext cx="2189266" cy="1338828"/>
            <a:chOff x="12891895" y="3617936"/>
            <a:chExt cx="2189266" cy="133882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4C4C9A-363B-37CD-A168-5DFBA6FE8C9E}"/>
                </a:ext>
              </a:extLst>
            </p:cNvPr>
            <p:cNvSpPr txBox="1"/>
            <p:nvPr/>
          </p:nvSpPr>
          <p:spPr>
            <a:xfrm>
              <a:off x="12891896" y="3617936"/>
              <a:ext cx="2189265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300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T-Sans Medium" pitchFamily="2" charset="0"/>
                  <a:ea typeface="T-Sans" pitchFamily="2" charset="0"/>
                  <a:sym typeface="Tinkoff Sans"/>
                </a:rPr>
                <a:t>Анфиса</a:t>
              </a:r>
            </a:p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ru-RU" sz="3000" dirty="0">
                  <a:solidFill>
                    <a:srgbClr val="333333"/>
                  </a:solidFill>
                  <a:latin typeface="T-Sans Medium" pitchFamily="2" charset="0"/>
                  <a:ea typeface="T-Sans" pitchFamily="2" charset="0"/>
                </a:rPr>
                <a:t>Кирсанова</a:t>
              </a:r>
              <a:endParaRPr kumimoji="0" lang="ru-RU" sz="300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T-Sans Medium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11573D-B3B6-6256-9B8D-CB6019D73A53}"/>
                </a:ext>
              </a:extLst>
            </p:cNvPr>
            <p:cNvSpPr txBox="1"/>
            <p:nvPr/>
          </p:nvSpPr>
          <p:spPr>
            <a:xfrm>
              <a:off x="12891895" y="4602821"/>
              <a:ext cx="2189265" cy="3539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2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sz="2000" dirty="0">
                  <a:latin typeface="T-Sans" pitchFamily="2" charset="0"/>
                  <a:ea typeface="T-Sans" pitchFamily="2" charset="0"/>
                </a:rPr>
                <a:t>ML / Frontend</a:t>
              </a: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FDA32E2A-D7D8-07D2-053D-AF4076B0FEDB}"/>
              </a:ext>
            </a:extLst>
          </p:cNvPr>
          <p:cNvGrpSpPr/>
          <p:nvPr/>
        </p:nvGrpSpPr>
        <p:grpSpPr>
          <a:xfrm>
            <a:off x="1467734" y="8366855"/>
            <a:ext cx="2189266" cy="1338828"/>
            <a:chOff x="12891895" y="3617936"/>
            <a:chExt cx="2189266" cy="1338828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F19C734-8D5C-6BC1-D4D1-8DD89A185256}"/>
                </a:ext>
              </a:extLst>
            </p:cNvPr>
            <p:cNvSpPr txBox="1"/>
            <p:nvPr/>
          </p:nvSpPr>
          <p:spPr>
            <a:xfrm>
              <a:off x="12891896" y="3617936"/>
              <a:ext cx="2189265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300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T-Sans Medium" pitchFamily="2" charset="0"/>
                  <a:ea typeface="T-Sans" pitchFamily="2" charset="0"/>
                  <a:sym typeface="Tinkoff Sans"/>
                </a:rPr>
                <a:t>Ксюша</a:t>
              </a:r>
            </a:p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ru-RU" sz="3000" dirty="0">
                  <a:solidFill>
                    <a:srgbClr val="333333"/>
                  </a:solidFill>
                  <a:latin typeface="T-Sans Medium" pitchFamily="2" charset="0"/>
                  <a:ea typeface="T-Sans" pitchFamily="2" charset="0"/>
                </a:rPr>
                <a:t>Яковлева</a:t>
              </a:r>
              <a:endParaRPr kumimoji="0" lang="ru-RU" sz="300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T-Sans Medium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DED05CC-9430-5ECC-8B48-A23F165C1A3D}"/>
                </a:ext>
              </a:extLst>
            </p:cNvPr>
            <p:cNvSpPr txBox="1"/>
            <p:nvPr/>
          </p:nvSpPr>
          <p:spPr>
            <a:xfrm>
              <a:off x="12891895" y="4602821"/>
              <a:ext cx="2189265" cy="3539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2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sz="2000" dirty="0">
                  <a:latin typeface="T-Sans" pitchFamily="2" charset="0"/>
                  <a:ea typeface="T-Sans" pitchFamily="2" charset="0"/>
                </a:rPr>
                <a:t>ML / Frontend</a:t>
              </a:r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26D557EC-5DCA-0573-66F3-8EC5F05B70D4}"/>
              </a:ext>
            </a:extLst>
          </p:cNvPr>
          <p:cNvGrpSpPr/>
          <p:nvPr/>
        </p:nvGrpSpPr>
        <p:grpSpPr>
          <a:xfrm>
            <a:off x="8178023" y="8366855"/>
            <a:ext cx="2189266" cy="1338828"/>
            <a:chOff x="12891895" y="3617936"/>
            <a:chExt cx="2189266" cy="133882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79E449-00F4-74ED-2059-4DF974768F85}"/>
                </a:ext>
              </a:extLst>
            </p:cNvPr>
            <p:cNvSpPr txBox="1"/>
            <p:nvPr/>
          </p:nvSpPr>
          <p:spPr>
            <a:xfrm>
              <a:off x="12891896" y="3617936"/>
              <a:ext cx="2189265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300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T-Sans Medium" pitchFamily="2" charset="0"/>
                  <a:ea typeface="T-Sans" pitchFamily="2" charset="0"/>
                  <a:sym typeface="Tinkoff Sans"/>
                </a:rPr>
                <a:t>Арнольд</a:t>
              </a:r>
            </a:p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ru-RU" sz="3000" dirty="0">
                  <a:solidFill>
                    <a:srgbClr val="333333"/>
                  </a:solidFill>
                  <a:latin typeface="T-Sans Medium" pitchFamily="2" charset="0"/>
                  <a:ea typeface="T-Sans" pitchFamily="2" charset="0"/>
                </a:rPr>
                <a:t>Гончаров</a:t>
              </a:r>
              <a:endParaRPr kumimoji="0" lang="ru-RU" sz="300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FillTx/>
                <a:latin typeface="T-Sans Medium" pitchFamily="2" charset="0"/>
                <a:ea typeface="T-Sans" pitchFamily="2" charset="0"/>
                <a:sym typeface="Tinkoff San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D313304-66C8-53B8-E3B9-43429E638802}"/>
                </a:ext>
              </a:extLst>
            </p:cNvPr>
            <p:cNvSpPr txBox="1"/>
            <p:nvPr/>
          </p:nvSpPr>
          <p:spPr>
            <a:xfrm>
              <a:off x="12891895" y="4602821"/>
              <a:ext cx="2189265" cy="3539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2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sz="2000" dirty="0">
                  <a:latin typeface="T-Sans" pitchFamily="2" charset="0"/>
                  <a:ea typeface="T-Sans" pitchFamily="2" charset="0"/>
                </a:rPr>
                <a:t>QA-engineer</a:t>
              </a: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CA89AF4C-1F54-3498-9147-42977B2C0070}"/>
              </a:ext>
            </a:extLst>
          </p:cNvPr>
          <p:cNvGrpSpPr/>
          <p:nvPr/>
        </p:nvGrpSpPr>
        <p:grpSpPr>
          <a:xfrm>
            <a:off x="14888313" y="8366855"/>
            <a:ext cx="2189266" cy="1338828"/>
            <a:chOff x="12891895" y="3617936"/>
            <a:chExt cx="2189266" cy="133882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FBBFAD4-245D-4166-0BC9-CDB7C736372F}"/>
                </a:ext>
              </a:extLst>
            </p:cNvPr>
            <p:cNvSpPr txBox="1"/>
            <p:nvPr/>
          </p:nvSpPr>
          <p:spPr>
            <a:xfrm>
              <a:off x="12891896" y="3617936"/>
              <a:ext cx="2189265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3000" u="none" strike="noStrike" cap="none" spc="0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uFillTx/>
                  <a:latin typeface="T-Sans Medium" pitchFamily="2" charset="0"/>
                  <a:ea typeface="T-Sans" pitchFamily="2" charset="0"/>
                  <a:sym typeface="Tinkoff Sans"/>
                </a:rPr>
                <a:t>Luna 6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CED786-ED03-3A4A-648A-757E20103216}"/>
                </a:ext>
              </a:extLst>
            </p:cNvPr>
            <p:cNvSpPr txBox="1"/>
            <p:nvPr/>
          </p:nvSpPr>
          <p:spPr>
            <a:xfrm>
              <a:off x="12891895" y="4602821"/>
              <a:ext cx="2189265" cy="3539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2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sz="2000" dirty="0">
                  <a:latin typeface="T-Sans" pitchFamily="2" charset="0"/>
                  <a:ea typeface="T-Sans" pitchFamily="2" charset="0"/>
                </a:rPr>
                <a:t>Debug-engineer</a:t>
              </a:r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13B372A2-BFA2-1EAB-C6F6-A29815A2B844}"/>
              </a:ext>
            </a:extLst>
          </p:cNvPr>
          <p:cNvGrpSpPr/>
          <p:nvPr/>
        </p:nvGrpSpPr>
        <p:grpSpPr>
          <a:xfrm>
            <a:off x="8178023" y="3626043"/>
            <a:ext cx="2189266" cy="1338828"/>
            <a:chOff x="12891895" y="3617936"/>
            <a:chExt cx="2189266" cy="133882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9AE194C-ED07-C46E-1E56-D973E9CB70A1}"/>
                </a:ext>
              </a:extLst>
            </p:cNvPr>
            <p:cNvSpPr txBox="1"/>
            <p:nvPr/>
          </p:nvSpPr>
          <p:spPr>
            <a:xfrm>
              <a:off x="12891896" y="3617936"/>
              <a:ext cx="2189265" cy="923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ru-RU" sz="3000" u="none" strike="noStrike" cap="none" spc="0" normalizeH="0" baseline="0" dirty="0">
                  <a:ln>
                    <a:noFill/>
                  </a:ln>
                  <a:solidFill>
                    <a:schemeClr val="accent6"/>
                  </a:solidFill>
                  <a:effectLst/>
                  <a:uFillTx/>
                  <a:latin typeface="T-Sans Medium" pitchFamily="2" charset="0"/>
                  <a:ea typeface="T-Sans" pitchFamily="2" charset="0"/>
                  <a:sym typeface="Tinkoff Sans"/>
                </a:rPr>
                <a:t>Opus 5.5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3DD78D-B6AB-B721-5851-443999EFD1CF}"/>
                </a:ext>
              </a:extLst>
            </p:cNvPr>
            <p:cNvSpPr txBox="1"/>
            <p:nvPr/>
          </p:nvSpPr>
          <p:spPr>
            <a:xfrm>
              <a:off x="12891895" y="4602821"/>
              <a:ext cx="2189265" cy="3539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2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sz="2000" dirty="0">
                  <a:solidFill>
                    <a:schemeClr val="accent3"/>
                  </a:solidFill>
                  <a:latin typeface="T-Sans" pitchFamily="2" charset="0"/>
                  <a:ea typeface="T-Sans" pitchFamily="2" charset="0"/>
                </a:rPr>
                <a:t>Team Lead</a:t>
              </a:r>
            </a:p>
          </p:txBody>
        </p:sp>
      </p:grpSp>
      <p:pic>
        <p:nvPicPr>
          <p:cNvPr id="3" name="Рисунок 2" descr="avatar_O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4" name="Рисунок 3" descr="avatar_ГБ.png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/>
          <a:stretch>
            <a:fillRect/>
          </a:stretch>
        </p:blipFill>
        <p:spPr/>
      </p:pic>
      <p:pic>
        <p:nvPicPr>
          <p:cNvPr id="7" name="Рисунок 6" descr="avatar_АГ.png"/>
          <p:cNvPicPr>
            <a:picLocks noGrp="1" noChangeAspect="1"/>
          </p:cNvPicPr>
          <p:nvPr>
            <p:ph type="pic" sz="quarter" idx="12"/>
          </p:nvPr>
        </p:nvPicPr>
        <p:blipFill>
          <a:blip r:embed="rId7"/>
          <a:srcRect/>
          <a:stretch>
            <a:fillRect/>
          </a:stretch>
        </p:blipFill>
        <p:spPr/>
      </p:pic>
      <p:pic>
        <p:nvPicPr>
          <p:cNvPr id="10" name="Рисунок 9" descr="avatar_СД.pn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/>
      </p:pic>
      <p:pic>
        <p:nvPicPr>
          <p:cNvPr id="12" name="Рисунок 11" descr="avatar_КЯ.png"/>
          <p:cNvPicPr>
            <a:picLocks noGrp="1" noChangeAspect="1"/>
          </p:cNvPicPr>
          <p:nvPr>
            <p:ph type="pic" sz="quarter" idx="14"/>
          </p:nvPr>
        </p:nvPicPr>
        <p:blipFill>
          <a:blip r:embed="rId6"/>
          <a:srcRect/>
          <a:stretch>
            <a:fillRect/>
          </a:stretch>
        </p:blipFill>
        <p:spPr/>
      </p:pic>
      <p:pic>
        <p:nvPicPr>
          <p:cNvPr id="14" name="Рисунок 13" descr="avatar_АК.png"/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/>
          <a:stretch>
            <a:fillRect/>
          </a:stretch>
        </p:blipFill>
        <p:spPr/>
      </p:pic>
      <p:pic>
        <p:nvPicPr>
          <p:cNvPr id="17" name="Рисунок 16" descr="avatar_L6.png"/>
          <p:cNvPicPr>
            <a:picLocks noGrp="1" noChangeAspect="1"/>
          </p:cNvPicPr>
          <p:nvPr>
            <p:ph type="pic" sz="quarter" idx="16"/>
          </p:nvPr>
        </p:nvPicPr>
        <p:blipFill>
          <a:blip r:embed="rId8"/>
          <a:srcRect/>
          <a:stretch>
            <a:fillRect/>
          </a:stretch>
        </p:blipFill>
        <p:spPr/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0559FCA6-C730-30C2-75C9-C6DE3C8F9E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8706361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</a:t>
            </a:r>
          </a:p>
          <a:p>
            <a:pPr>
              <a:lnSpc>
                <a:spcPct val="80000"/>
              </a:lnSpc>
            </a:pP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  <p:pic>
        <p:nvPicPr>
          <p:cNvPr id="24" name="Picture 23" descr="qr_e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188720"/>
            <a:ext cx="3017520" cy="3017520"/>
          </a:xfrm>
          <a:prstGeom prst="rect">
            <a:avLst/>
          </a:prstGeom>
        </p:spPr>
      </p:pic>
      <p:pic>
        <p:nvPicPr>
          <p:cNvPr id="25" name="Picture 24" descr="am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4480560"/>
            <a:ext cx="1856527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6453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47186</TotalTime>
  <Words>5027</Words>
  <Application>Microsoft Macintosh PowerPoint</Application>
  <PresentationFormat>Произвольный</PresentationFormat>
  <Paragraphs>868</Paragraphs>
  <Slides>83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83</vt:i4>
      </vt:variant>
    </vt:vector>
  </HeadingPairs>
  <TitlesOfParts>
    <vt:vector size="89" baseType="lpstr">
      <vt:lpstr>Wingdings</vt:lpstr>
      <vt:lpstr>T-Sans Medium</vt:lpstr>
      <vt:lpstr>T-Sans</vt:lpstr>
      <vt:lpstr>Arial</vt:lpstr>
      <vt:lpstr>Tinkoff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Пользователь</cp:lastModifiedBy>
  <cp:revision>1006</cp:revision>
  <dcterms:modified xsi:type="dcterms:W3CDTF">2026-01-14T10:53:46Z</dcterms:modified>
</cp:coreProperties>
</file>